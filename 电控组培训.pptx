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heme/theme2.xml" ContentType="application/vnd.openxmlformats-officedocument.theme+xml"/>
  <Override PartName="/ppt/tags/tag5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7" r:id="rId2"/>
    <p:sldId id="309" r:id="rId3"/>
    <p:sldId id="410" r:id="rId4"/>
    <p:sldId id="366" r:id="rId5"/>
    <p:sldId id="367" r:id="rId6"/>
    <p:sldId id="409" r:id="rId7"/>
    <p:sldId id="411" r:id="rId8"/>
    <p:sldId id="368" r:id="rId9"/>
    <p:sldId id="369" r:id="rId10"/>
    <p:sldId id="402" r:id="rId11"/>
    <p:sldId id="397" r:id="rId12"/>
    <p:sldId id="398" r:id="rId13"/>
    <p:sldId id="399" r:id="rId14"/>
    <p:sldId id="400" r:id="rId15"/>
    <p:sldId id="401" r:id="rId16"/>
    <p:sldId id="370" r:id="rId17"/>
    <p:sldId id="371" r:id="rId18"/>
    <p:sldId id="372" r:id="rId19"/>
    <p:sldId id="373" r:id="rId20"/>
    <p:sldId id="403" r:id="rId21"/>
    <p:sldId id="404" r:id="rId22"/>
    <p:sldId id="405" r:id="rId23"/>
    <p:sldId id="374" r:id="rId24"/>
    <p:sldId id="376" r:id="rId25"/>
    <p:sldId id="407" r:id="rId26"/>
    <p:sldId id="377" r:id="rId27"/>
    <p:sldId id="375" r:id="rId28"/>
    <p:sldId id="408" r:id="rId29"/>
    <p:sldId id="378" r:id="rId30"/>
    <p:sldId id="383" r:id="rId31"/>
    <p:sldId id="379" r:id="rId32"/>
    <p:sldId id="381" r:id="rId33"/>
    <p:sldId id="382" r:id="rId34"/>
    <p:sldId id="380" r:id="rId35"/>
    <p:sldId id="388" r:id="rId36"/>
    <p:sldId id="390" r:id="rId37"/>
    <p:sldId id="391" r:id="rId38"/>
    <p:sldId id="392" r:id="rId39"/>
    <p:sldId id="393" r:id="rId40"/>
    <p:sldId id="394" r:id="rId41"/>
    <p:sldId id="396" r:id="rId42"/>
    <p:sldId id="395" r:id="rId43"/>
    <p:sldId id="389" r:id="rId44"/>
    <p:sldId id="338" r:id="rId45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jie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4" autoAdjust="0"/>
    <p:restoredTop sz="96135" autoAdjust="0"/>
  </p:normalViewPr>
  <p:slideViewPr>
    <p:cSldViewPr snapToGrid="0" showGuides="1">
      <p:cViewPr varScale="1">
        <p:scale>
          <a:sx n="103" d="100"/>
          <a:sy n="103" d="100"/>
        </p:scale>
        <p:origin x="48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019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.xml"/><Relationship Id="rId7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10" Type="http://schemas.openxmlformats.org/officeDocument/2006/relationships/image" Target="../media/image4.jpeg"/><Relationship Id="rId4" Type="http://schemas.openxmlformats.org/officeDocument/2006/relationships/tags" Target="../tags/tag11.xml"/><Relationship Id="rId9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1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7" cstate="screen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4706620" y="0"/>
            <a:ext cx="4927600" cy="6858000"/>
          </a:xfrm>
          <a:custGeom>
            <a:avLst/>
            <a:gdLst>
              <a:gd name="connsiteX0" fmla="*/ 1231900 w 4927600"/>
              <a:gd name="connsiteY0" fmla="*/ 0 h 6858000"/>
              <a:gd name="connsiteX1" fmla="*/ 4927600 w 4927600"/>
              <a:gd name="connsiteY1" fmla="*/ 0 h 6858000"/>
              <a:gd name="connsiteX2" fmla="*/ 3695700 w 4927600"/>
              <a:gd name="connsiteY2" fmla="*/ 6858000 h 6858000"/>
              <a:gd name="connsiteX3" fmla="*/ 0 w 4927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7600" h="6858000">
                <a:moveTo>
                  <a:pt x="1231900" y="0"/>
                </a:moveTo>
                <a:lnTo>
                  <a:pt x="4927600" y="0"/>
                </a:lnTo>
                <a:lnTo>
                  <a:pt x="36957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>
          <a:xfrm>
            <a:off x="7264400" y="255"/>
            <a:ext cx="4927600" cy="6858000"/>
          </a:xfrm>
          <a:custGeom>
            <a:avLst/>
            <a:gdLst>
              <a:gd name="connsiteX0" fmla="*/ 1231900 w 4927600"/>
              <a:gd name="connsiteY0" fmla="*/ 0 h 6858000"/>
              <a:gd name="connsiteX1" fmla="*/ 4927600 w 4927600"/>
              <a:gd name="connsiteY1" fmla="*/ 0 h 6858000"/>
              <a:gd name="connsiteX2" fmla="*/ 3695700 w 4927600"/>
              <a:gd name="connsiteY2" fmla="*/ 6858000 h 6858000"/>
              <a:gd name="connsiteX3" fmla="*/ 0 w 4927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7600" h="6858000">
                <a:moveTo>
                  <a:pt x="1231900" y="0"/>
                </a:moveTo>
                <a:lnTo>
                  <a:pt x="4927600" y="0"/>
                </a:lnTo>
                <a:lnTo>
                  <a:pt x="36957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7" cstate="screen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9832340" y="255"/>
            <a:ext cx="4927600" cy="6858000"/>
          </a:xfrm>
          <a:custGeom>
            <a:avLst/>
            <a:gdLst>
              <a:gd name="connsiteX0" fmla="*/ 1231900 w 4927600"/>
              <a:gd name="connsiteY0" fmla="*/ 0 h 6858000"/>
              <a:gd name="connsiteX1" fmla="*/ 4927600 w 4927600"/>
              <a:gd name="connsiteY1" fmla="*/ 0 h 6858000"/>
              <a:gd name="connsiteX2" fmla="*/ 3695700 w 4927600"/>
              <a:gd name="connsiteY2" fmla="*/ 6858000 h 6858000"/>
              <a:gd name="connsiteX3" fmla="*/ 0 w 49276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27600" h="6858000">
                <a:moveTo>
                  <a:pt x="1231900" y="0"/>
                </a:moveTo>
                <a:lnTo>
                  <a:pt x="4927600" y="0"/>
                </a:lnTo>
                <a:lnTo>
                  <a:pt x="36957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altLang="zh-CN" dirty="0"/>
              <a:t>XX</a:t>
            </a:r>
            <a:r>
              <a:rPr lang="zh-CN" altLang="en-US" dirty="0"/>
              <a:t>组培训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pic>
        <p:nvPicPr>
          <p:cNvPr id="9" name="图片 8" descr="C:/Users/HEJIAN/AppData/Local/Temp/picturecompress_20220207155922/output_1.jpgoutput_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026795" cy="1026795"/>
          </a:xfrm>
          <a:prstGeom prst="rect">
            <a:avLst/>
          </a:prstGeom>
        </p:spPr>
      </p:pic>
      <p:pic>
        <p:nvPicPr>
          <p:cNvPr id="10" name="图片 9" descr="部门图标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026795" y="100330"/>
            <a:ext cx="842010" cy="825500"/>
          </a:xfrm>
          <a:prstGeom prst="rect">
            <a:avLst/>
          </a:prstGeom>
        </p:spPr>
      </p:pic>
      <p:pic>
        <p:nvPicPr>
          <p:cNvPr id="12" name="图片 11" descr="机创图标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990725" y="50165"/>
            <a:ext cx="926465" cy="926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</a:lstStyle>
          <a:p>
            <a:pPr lvl="0"/>
            <a:r>
              <a:rPr lang="en-US" altLang="zh-CN" dirty="0">
                <a:sym typeface="+mn-ea"/>
              </a:rPr>
              <a:t> </a:t>
            </a:r>
            <a:r>
              <a:rPr lang="zh-CN" dirty="0">
                <a:sym typeface="+mn-ea"/>
              </a:rPr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  <a:lvl2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2pPr>
            <a:lvl3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3pPr>
            <a:lvl4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4pPr>
            <a:lvl5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  <a:lvl2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2pPr>
            <a:lvl3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3pPr>
            <a:lvl4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4pPr>
            <a:lvl5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sp>
        <p:nvSpPr>
          <p:cNvPr id="8" name="立方体 7"/>
          <p:cNvSpPr/>
          <p:nvPr userDrawn="1"/>
        </p:nvSpPr>
        <p:spPr>
          <a:xfrm>
            <a:off x="295910" y="791210"/>
            <a:ext cx="312420" cy="339725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461125" y="899160"/>
            <a:ext cx="5076825" cy="5313045"/>
            <a:chOff x="8280" y="575"/>
            <a:chExt cx="9600" cy="9505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8"/>
            <a:srcRect l="50000" t="-323" b="323"/>
            <a:stretch>
              <a:fillRect/>
            </a:stretch>
          </p:blipFill>
          <p:spPr>
            <a:xfrm>
              <a:off x="8280" y="575"/>
              <a:ext cx="9600" cy="4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 rotWithShape="1">
            <a:blip r:embed="rId8"/>
            <a:srcRect r="50000"/>
            <a:stretch>
              <a:fillRect/>
            </a:stretch>
          </p:blipFill>
          <p:spPr>
            <a:xfrm>
              <a:off x="8280" y="5280"/>
              <a:ext cx="9600" cy="48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12210" y="16136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 sz="2400">
                <a:latin typeface="方正粗黑宋简体" panose="02000000000000000000" charset="-122"/>
                <a:ea typeface="方正粗黑宋简体" panose="02000000000000000000" charset="-122"/>
              </a:defRPr>
            </a:lvl1pPr>
            <a:lvl2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2pPr>
            <a:lvl3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3pPr>
            <a:lvl4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4pPr>
            <a:lvl5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sp>
        <p:nvSpPr>
          <p:cNvPr id="7" name="立方体 6"/>
          <p:cNvSpPr/>
          <p:nvPr userDrawn="1"/>
        </p:nvSpPr>
        <p:spPr>
          <a:xfrm>
            <a:off x="295910" y="344170"/>
            <a:ext cx="312420" cy="339725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0" y="942340"/>
            <a:ext cx="12275820" cy="0"/>
          </a:xfrm>
          <a:prstGeom prst="line">
            <a:avLst/>
          </a:prstGeom>
          <a:ln w="47625" cmpd="sng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>
              <a:defRPr sz="2400">
                <a:latin typeface="方正粗黑宋简体" panose="02000000000000000000" charset="-122"/>
                <a:ea typeface="方正粗黑宋简体" panose="02000000000000000000" charset="-122"/>
              </a:defRPr>
            </a:lvl1pPr>
            <a:lvl2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2pPr>
            <a:lvl3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3pPr>
            <a:lvl4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4pPr>
            <a:lvl5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>
              <a:defRPr sz="2400">
                <a:latin typeface="方正粗黑宋简体" panose="02000000000000000000" charset="-122"/>
                <a:ea typeface="方正粗黑宋简体" panose="02000000000000000000" charset="-122"/>
              </a:defRPr>
            </a:lvl1pPr>
            <a:lvl2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2pPr>
            <a:lvl3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3pPr>
            <a:lvl4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4pPr>
            <a:lvl5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sp>
        <p:nvSpPr>
          <p:cNvPr id="8" name="立方体 7"/>
          <p:cNvSpPr/>
          <p:nvPr userDrawn="1"/>
        </p:nvSpPr>
        <p:spPr>
          <a:xfrm>
            <a:off x="295910" y="791210"/>
            <a:ext cx="312420" cy="339725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2026/10/14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" name="立方体 1"/>
          <p:cNvSpPr/>
          <p:nvPr userDrawn="1"/>
        </p:nvSpPr>
        <p:spPr>
          <a:xfrm>
            <a:off x="295910" y="791210"/>
            <a:ext cx="312420" cy="339725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>
                <a:latin typeface="方正粗黑宋简体" panose="02000000000000000000" charset="-122"/>
                <a:ea typeface="方正粗黑宋简体" panose="020000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sp>
        <p:nvSpPr>
          <p:cNvPr id="7" name="立方体 6"/>
          <p:cNvSpPr/>
          <p:nvPr userDrawn="1"/>
        </p:nvSpPr>
        <p:spPr>
          <a:xfrm>
            <a:off x="295910" y="791210"/>
            <a:ext cx="312420" cy="339725"/>
          </a:xfrm>
          <a:prstGeom prst="cub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  <p:sp>
        <p:nvSpPr>
          <p:cNvPr id="5" name="矩形: 圆角 6"/>
          <p:cNvSpPr/>
          <p:nvPr userDrawn="1"/>
        </p:nvSpPr>
        <p:spPr>
          <a:xfrm>
            <a:off x="-12700" y="6130630"/>
            <a:ext cx="12204700" cy="769441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-12700" y="6130630"/>
            <a:ext cx="12204700" cy="769441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455160" y="2327331"/>
            <a:ext cx="3098800" cy="708025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4000" b="1" kern="1200" noProof="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工作业绩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4455160" y="3035139"/>
            <a:ext cx="3098800" cy="400110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altLang="zh-CN" sz="2000" kern="1200" noProof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Please Add Text Here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kumimoji="0" lang="zh-CN" altLang="en-US" sz="8000" b="0" i="1" u="none" strike="noStrike" kern="1200" cap="none" spc="0" normalizeH="0" baseline="0" noProof="1" dirty="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+mj-cs"/>
              </a:defRPr>
            </a:lvl1pPr>
          </a:lstStyle>
          <a:p>
            <a:r>
              <a:rPr lang="zh-CN" altLang="en-US" dirty="0"/>
              <a:t>谢谢观看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="1" i="1" spc="200">
                <a:solidFill>
                  <a:schemeClr val="tx1"/>
                </a:solidFill>
                <a:latin typeface="方正粗黑宋简体" panose="02000000000000000000" charset="-122"/>
                <a:ea typeface="方正粗黑宋简体" panose="02000000000000000000" charset="-122"/>
                <a:cs typeface="方正粗黑宋简体" panose="020000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福建农林大学</a:t>
            </a:r>
            <a:r>
              <a:rPr lang="en-US" altLang="zh-CN" dirty="0"/>
              <a:t>———</a:t>
            </a:r>
            <a:r>
              <a:rPr lang="zh-CN" altLang="en-US" dirty="0"/>
              <a:t>云图创智</a:t>
            </a:r>
            <a:r>
              <a:rPr lang="en-US" altLang="zh-CN" dirty="0"/>
              <a:t>071</a:t>
            </a:r>
            <a:r>
              <a:rPr lang="zh-CN" altLang="en-US" dirty="0"/>
              <a:t>战队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秣马厉兵</a:t>
            </a:r>
            <a:r>
              <a:rPr lang="en-US" altLang="zh-CN" dirty="0"/>
              <a:t>	</a:t>
            </a:r>
            <a:r>
              <a:rPr lang="zh-CN" altLang="en-US" dirty="0"/>
              <a:t>精益求精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云图创智</a:t>
            </a:r>
            <a:r>
              <a:rPr lang="en-US" altLang="zh-CN"/>
              <a:t>071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秣马厉兵</a:t>
            </a:r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精益求精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云图创智</a:t>
            </a:r>
            <a:r>
              <a:rPr lang="en-US" altLang="zh-CN">
                <a:sym typeface="+mn-ea"/>
              </a:rPr>
              <a:t>071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0" y="926446"/>
            <a:ext cx="121920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238125"/>
            <a:ext cx="542925" cy="688321"/>
          </a:xfrm>
          <a:prstGeom prst="rect">
            <a:avLst/>
          </a:prstGeom>
          <a:solidFill>
            <a:srgbClr val="00AB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PI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4945" y="358140"/>
            <a:ext cx="1318895" cy="492125"/>
          </a:xfrm>
          <a:prstGeom prst="rect">
            <a:avLst/>
          </a:prstGeom>
        </p:spPr>
      </p:pic>
      <p:sp>
        <p:nvSpPr>
          <p:cNvPr id="12" name="AutoShape 3"/>
          <p:cNvSpPr>
            <a:spLocks noChangeAspect="1" noChangeArrowheads="1" noTextEdit="1"/>
          </p:cNvSpPr>
          <p:nvPr/>
        </p:nvSpPr>
        <p:spPr bwMode="auto">
          <a:xfrm>
            <a:off x="7086599" y="3244215"/>
            <a:ext cx="1807656" cy="149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374" y="5413441"/>
            <a:ext cx="1276616" cy="1053851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2851" y="209030"/>
            <a:ext cx="9145385" cy="790344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ACB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AFE3-1E6C-4850-BCB1-5A660FC5980F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E4B86-D95E-428B-B381-8647FA92D89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sz="quarter" idx="13"/>
          </p:nvPr>
        </p:nvSpPr>
        <p:spPr>
          <a:xfrm>
            <a:off x="731838" y="1346200"/>
            <a:ext cx="4724284" cy="4618038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4"/>
          </p:nvPr>
        </p:nvSpPr>
        <p:spPr>
          <a:xfrm>
            <a:off x="5710458" y="1346200"/>
            <a:ext cx="4946430" cy="4618038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秣马厉兵</a:t>
            </a:r>
            <a:r>
              <a:rPr lang="en-US" altLang="zh-CN" dirty="0"/>
              <a:t>	</a:t>
            </a:r>
            <a:r>
              <a:rPr lang="zh-CN" altLang="en-US" dirty="0"/>
              <a:t>精益求精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云图创智</a:t>
            </a:r>
            <a:r>
              <a:rPr lang="en-US" altLang="zh-CN"/>
              <a:t>071</a:t>
            </a:r>
            <a:endParaRPr lang="en-US" altLang="zh-CN" dirty="0"/>
          </a:p>
        </p:txBody>
      </p:sp>
      <p:pic>
        <p:nvPicPr>
          <p:cNvPr id="7" name="图片 6" descr="C:/Users/HEJIAN/AppData/Local/Temp/picturecompress_20220207155922/output_1.jpgoutput_1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65205" y="0"/>
            <a:ext cx="1026795" cy="1026795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方正粗黑宋简体" panose="02000000000000000000" charset="-122"/>
          <a:ea typeface="方正粗黑宋简体" panose="02000000000000000000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方正粗黑宋简体" panose="02000000000000000000" charset="-122"/>
          <a:ea typeface="方正粗黑宋简体" panose="02000000000000000000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方正粗黑宋简体" panose="02000000000000000000" charset="-122"/>
          <a:ea typeface="方正粗黑宋简体" panose="02000000000000000000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方正粗黑宋简体" panose="02000000000000000000" charset="-122"/>
          <a:ea typeface="方正粗黑宋简体" panose="02000000000000000000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方正粗黑宋简体" panose="02000000000000000000" charset="-122"/>
          <a:ea typeface="方正粗黑宋简体" panose="02000000000000000000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方正粗黑宋简体" panose="02000000000000000000" charset="-122"/>
          <a:ea typeface="方正粗黑宋简体" panose="020000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mlnotebook.github.io/post/CNN1/" TargetMode="External"/><Relationship Id="rId2" Type="http://schemas.openxmlformats.org/officeDocument/2006/relationships/hyperlink" Target="https://docs.opencv.org/4.x/d9/df8/tutorial_root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cnblogs.com/chenzhen0530/p/14630229.html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442" y="2585156"/>
            <a:ext cx="7768800" cy="1668451"/>
          </a:xfrm>
        </p:spPr>
        <p:txBody>
          <a:bodyPr>
            <a:normAutofit/>
          </a:bodyPr>
          <a:lstStyle/>
          <a:p>
            <a:r>
              <a:rPr lang="en-US" altLang="zh-CN" sz="5400" b="0" dirty="0"/>
              <a:t>071-</a:t>
            </a:r>
            <a:r>
              <a:rPr lang="zh-CN" altLang="en-US" sz="5400" b="0" dirty="0"/>
              <a:t>电控组</a:t>
            </a:r>
            <a:br>
              <a:rPr lang="en-US" altLang="zh-CN" dirty="0"/>
            </a:br>
            <a:r>
              <a:rPr lang="zh-CN" altLang="en-US" b="0" dirty="0"/>
              <a:t>单片机培训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109F77-71CF-D078-3DA6-091D121B8FB6}"/>
              </a:ext>
            </a:extLst>
          </p:cNvPr>
          <p:cNvSpPr txBox="1"/>
          <p:nvPr/>
        </p:nvSpPr>
        <p:spPr>
          <a:xfrm>
            <a:off x="518442" y="548409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OrangeMan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01FAD-626A-31DC-FE22-0B1FCE13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4400" dirty="0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B9E46-CF40-EDA5-EC54-B3D4AE9489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标准库点灯</a:t>
            </a:r>
            <a:endParaRPr lang="en-US" altLang="zh-CN" sz="2400" dirty="0"/>
          </a:p>
          <a:p>
            <a:r>
              <a:rPr lang="en-US" altLang="zh-CN" sz="2400" dirty="0"/>
              <a:t>GPIO</a:t>
            </a:r>
            <a:r>
              <a:rPr lang="zh-CN" altLang="en-US" sz="2400" dirty="0"/>
              <a:t>引脚配置</a:t>
            </a:r>
            <a:endParaRPr lang="en-US" altLang="zh-CN" sz="2400" dirty="0"/>
          </a:p>
          <a:p>
            <a:r>
              <a:rPr lang="en-US" altLang="zh-CN" sz="2400" dirty="0"/>
              <a:t>OLED</a:t>
            </a:r>
            <a:r>
              <a:rPr lang="zh-CN" altLang="en-US" sz="2400" dirty="0"/>
              <a:t>屏幕显示</a:t>
            </a:r>
            <a:endParaRPr lang="en-US" altLang="zh-CN" sz="2400" dirty="0"/>
          </a:p>
          <a:p>
            <a:r>
              <a:rPr lang="zh-CN" altLang="en-US" sz="2400" dirty="0"/>
              <a:t>超声波模块测距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911933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0E5EB-0E2B-EE72-CC4B-A0623C35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F6BD4A3-590D-98A1-766A-41D46E9991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9730" y="1501775"/>
            <a:ext cx="4413403" cy="4748213"/>
          </a:xfrm>
          <a:prstGeom prst="rect">
            <a:avLst/>
          </a:prstGeom>
        </p:spPr>
      </p:pic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2AB684-D22B-4469-6741-C762343F27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344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4E499-BCE9-79E5-3876-39DDECDB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7B0145C-669A-8EA5-E4DF-9B667F2203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3706" y="2372329"/>
            <a:ext cx="3904587" cy="710067"/>
          </a:xfrm>
        </p:spPr>
        <p:txBody>
          <a:bodyPr/>
          <a:lstStyle/>
          <a:p>
            <a:r>
              <a:rPr lang="zh-CN" altLang="en-US" sz="4000" dirty="0"/>
              <a:t>标准库</a:t>
            </a:r>
            <a:endParaRPr lang="en-US" altLang="zh-CN" sz="40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5C3AD-0000-7BF0-4523-D6F500E803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6599" y="3054050"/>
            <a:ext cx="3098800" cy="400110"/>
          </a:xfrm>
        </p:spPr>
        <p:txBody>
          <a:bodyPr/>
          <a:lstStyle/>
          <a:p>
            <a:r>
              <a:rPr lang="en-US" altLang="zh-CN" dirty="0"/>
              <a:t>Standard library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161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C8A20D-502E-BC70-D43F-DFEB7E2C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标准库与</a:t>
            </a:r>
            <a:r>
              <a:rPr lang="en-US" altLang="zh-CN" dirty="0"/>
              <a:t>HAL</a:t>
            </a:r>
            <a:r>
              <a:rPr lang="zh-CN" altLang="en-US" dirty="0"/>
              <a:t>库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6E7C959-6F6B-D0A7-119E-0ED0B259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标准库和HAL库都是ST公司为STM32单片机提供的官方固件库，本质上是帮开发者屏蔽底层寄存器操作、用现成函数控制硬件的中间件。标准库更贴近底层，直接封装寄存器，控制精细、代码效率高，但不同芯片系列之间移植困难，且已停止更新；HAL库则抽象层次更高，提供统一的高级API，配合</a:t>
            </a:r>
            <a:r>
              <a:rPr lang="zh-CN" altLang="zh-CN" u="sng" dirty="0"/>
              <a:t>STM32CubeMX</a:t>
            </a:r>
            <a:r>
              <a:rPr lang="zh-CN" altLang="zh-CN" dirty="0"/>
              <a:t>能快速生成代码，跨系列移植性强、开发效率高，但代码体积和执行效率略逊一筹。</a:t>
            </a:r>
            <a:r>
              <a:rPr lang="zh-CN" altLang="en-US" dirty="0"/>
              <a:t>总而言之</a:t>
            </a:r>
            <a:r>
              <a:rPr lang="zh-CN" altLang="zh-CN" dirty="0"/>
              <a:t>，</a:t>
            </a:r>
            <a:r>
              <a:rPr lang="zh-CN" altLang="en-US" dirty="0"/>
              <a:t>标准库可以作为学习使用，</a:t>
            </a:r>
            <a:r>
              <a:rPr lang="en-US" altLang="zh-CN" dirty="0"/>
              <a:t>HAL</a:t>
            </a:r>
            <a:r>
              <a:rPr lang="zh-CN" altLang="en-US" dirty="0"/>
              <a:t>库才是我们做项目的首选</a:t>
            </a:r>
            <a:r>
              <a:rPr lang="zh-CN" altLang="zh-CN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939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AC20-F5F1-7DC5-E97B-092614254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46D1414-D930-8DD6-2963-D6966C40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标准库与</a:t>
            </a:r>
            <a:r>
              <a:rPr lang="en-US" altLang="zh-CN" dirty="0"/>
              <a:t>HAL</a:t>
            </a:r>
            <a:r>
              <a:rPr lang="zh-CN" altLang="en-US" dirty="0"/>
              <a:t>库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E17FDF0-D219-DC97-936B-3FA077E8E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SWCLK                                         SWCLK/CLK</a:t>
            </a:r>
          </a:p>
          <a:p>
            <a:pPr marL="0" indent="0">
              <a:buNone/>
            </a:pPr>
            <a:r>
              <a:rPr lang="en-US" altLang="zh-CN" dirty="0"/>
              <a:t>SWDIO                                         DIO</a:t>
            </a:r>
          </a:p>
          <a:p>
            <a:pPr marL="0" indent="0">
              <a:buNone/>
            </a:pPr>
            <a:r>
              <a:rPr lang="en-US" altLang="zh-CN" dirty="0"/>
              <a:t>GND</a:t>
            </a:r>
            <a:r>
              <a:rPr lang="zh-CN" altLang="en-US" dirty="0"/>
              <a:t>：共地 黑色                             </a:t>
            </a:r>
            <a:r>
              <a:rPr lang="en-US" altLang="zh-CN" dirty="0"/>
              <a:t>GND</a:t>
            </a:r>
          </a:p>
          <a:p>
            <a:pPr marL="0" indent="0">
              <a:buNone/>
            </a:pPr>
            <a:r>
              <a:rPr lang="en-US" altLang="zh-CN" dirty="0"/>
              <a:t>VCC/VDD</a:t>
            </a:r>
            <a:r>
              <a:rPr lang="zh-CN" altLang="en-US" dirty="0"/>
              <a:t>：电压 红色                      </a:t>
            </a:r>
            <a:r>
              <a:rPr lang="en-US" altLang="zh-CN" dirty="0"/>
              <a:t>3V3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9726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3982C-498A-62E8-FC3D-EB0F43F06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5655A7C-FBC0-CC67-E7BE-075ED3FC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感谢创芯工坊的高性能烧录器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63C9427-CCB3-A517-1A99-10FF934AE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                               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5B6839-A125-4514-B67D-4C199D9D1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95" y="1052763"/>
            <a:ext cx="4638174" cy="49900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70AED3-E51A-1EFC-1053-E9F540E4C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60" y="1052763"/>
            <a:ext cx="5753396" cy="54803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990E6E-1227-DA46-ECDC-ADA6563B3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503" y="1107268"/>
            <a:ext cx="6245244" cy="502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6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CDCB48-20E8-0847-12EC-E8E9FBDB4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标准库点灯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E5419-56EB-5741-DFAB-EF475C3A3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RCC = Reset and Clock Control，复位与时钟控制</a:t>
            </a:r>
          </a:p>
          <a:p>
            <a:pPr lvl="0"/>
            <a:r>
              <a:rPr lang="zh-CN" altLang="zh-CN" dirty="0"/>
              <a:t>APB2 = 它是 STM32 的一条总线，GPIO 都挂在这条线上</a:t>
            </a:r>
          </a:p>
          <a:p>
            <a:pPr lvl="0"/>
            <a:r>
              <a:rPr lang="zh-CN" altLang="zh-CN" dirty="0"/>
              <a:t>Periph = Peripheral，外设</a:t>
            </a:r>
          </a:p>
          <a:p>
            <a:pPr lvl="0"/>
            <a:r>
              <a:rPr lang="zh-CN" altLang="zh-CN" dirty="0"/>
              <a:t>ClockCmd = 时钟命令</a:t>
            </a:r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524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9136D-DEA5-BE38-0AAB-CD8C6287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标准库点灯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504DF9-982D-87CB-BB91-8AA5CD8D4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6292"/>
            <a:ext cx="12192000" cy="589170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1800" dirty="0"/>
              <a:t>#include "stm32f10x.h"                  </a:t>
            </a:r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int main(void)</a:t>
            </a:r>
          </a:p>
          <a:p>
            <a:pPr marL="0" indent="0">
              <a:buNone/>
            </a:pPr>
            <a:r>
              <a:rPr lang="en-US" altLang="zh-CN" sz="1800" dirty="0"/>
              <a:t>{</a:t>
            </a:r>
          </a:p>
          <a:p>
            <a:pPr marL="0" indent="0">
              <a:buNone/>
            </a:pPr>
            <a:r>
              <a:rPr lang="en-US" altLang="zh-CN" sz="1800" dirty="0"/>
              <a:t>	RCC_APB2PeriphClockCmd(RCC_APB2Periph_GPIOC, ENABLE);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GPIO_InitTypeDef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GPIO_InitStructure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GPIO_InitStructure.GPIO_Mode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GPIO_Mode_Out_PP</a:t>
            </a:r>
            <a:r>
              <a:rPr lang="en-US" altLang="zh-CN" sz="1800" dirty="0"/>
              <a:t>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GPIO_InitStructure.GPIO_Pin</a:t>
            </a:r>
            <a:r>
              <a:rPr lang="en-US" altLang="zh-CN" sz="1800" dirty="0"/>
              <a:t> = GPIO_Pin_13;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GPIO_InitStructure.GPIO_Speed</a:t>
            </a:r>
            <a:r>
              <a:rPr lang="en-US" altLang="zh-CN" sz="1800" dirty="0"/>
              <a:t> = GPIO_Speed_50MHz;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GPIO_Init</a:t>
            </a:r>
            <a:r>
              <a:rPr lang="en-US" altLang="zh-CN" sz="1800" dirty="0"/>
              <a:t>(GPIOC, &amp;</a:t>
            </a:r>
            <a:r>
              <a:rPr lang="en-US" altLang="zh-CN" sz="1800" dirty="0" err="1"/>
              <a:t>GPIO_InitStructure</a:t>
            </a:r>
            <a:r>
              <a:rPr lang="en-US" altLang="zh-CN" sz="1800" dirty="0"/>
              <a:t>);</a:t>
            </a:r>
          </a:p>
          <a:p>
            <a:pPr marL="0" indent="0">
              <a:buNone/>
            </a:pPr>
            <a:r>
              <a:rPr lang="en-US" altLang="zh-CN" sz="1800" dirty="0"/>
              <a:t>//	</a:t>
            </a:r>
            <a:r>
              <a:rPr lang="en-US" altLang="zh-CN" sz="1800" dirty="0" err="1"/>
              <a:t>GPIO_SetBits</a:t>
            </a:r>
            <a:r>
              <a:rPr lang="en-US" altLang="zh-CN" sz="1800" dirty="0"/>
              <a:t>(GPIOC, GPIO_Pin_13);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err="1"/>
              <a:t>GPIO_ResetBits</a:t>
            </a:r>
            <a:r>
              <a:rPr lang="en-US" altLang="zh-CN" sz="1800" dirty="0"/>
              <a:t>(GPIOC, GPIO_Pin_13);</a:t>
            </a:r>
          </a:p>
          <a:p>
            <a:pPr marL="0" indent="0">
              <a:buNone/>
            </a:pPr>
            <a:r>
              <a:rPr lang="en-US" altLang="zh-CN" sz="1800" dirty="0"/>
              <a:t>	while (1)</a:t>
            </a:r>
          </a:p>
          <a:p>
            <a:pPr marL="0" indent="0">
              <a:buNone/>
            </a:pPr>
            <a:r>
              <a:rPr lang="en-US" altLang="zh-CN" sz="1800" dirty="0"/>
              <a:t>	{</a:t>
            </a:r>
          </a:p>
          <a:p>
            <a:pPr marL="0" indent="0">
              <a:buNone/>
            </a:pPr>
            <a:r>
              <a:rPr lang="en-US" altLang="zh-CN" sz="1800" dirty="0"/>
              <a:t>		</a:t>
            </a:r>
          </a:p>
          <a:p>
            <a:pPr marL="0" indent="0">
              <a:buNone/>
            </a:pPr>
            <a:r>
              <a:rPr lang="en-US" altLang="zh-CN" sz="1800" dirty="0"/>
              <a:t>	}</a:t>
            </a:r>
          </a:p>
          <a:p>
            <a:pPr marL="0" indent="0"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070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FFE5A-BE99-6651-69A9-08A64E58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66501-C5B4-6C68-E1BC-B8F33FC4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HAL</a:t>
            </a:r>
            <a:r>
              <a:rPr lang="zh-CN" altLang="en-US" dirty="0"/>
              <a:t>点灯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32A0F-0AA7-1B9C-BB68-1C5B4301D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6292"/>
            <a:ext cx="12192000" cy="5891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HAL_GPIO_WritePin</a:t>
            </a:r>
            <a:r>
              <a:rPr lang="en-US" altLang="zh-CN" sz="1800" dirty="0"/>
              <a:t> (GPIOC,GPIO_PIN_13,GPIO_PIN_RESET);</a:t>
            </a:r>
          </a:p>
          <a:p>
            <a:pPr marL="0" indent="0"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HAL_Delay</a:t>
            </a:r>
            <a:r>
              <a:rPr lang="en-US" altLang="zh-CN" sz="1800" dirty="0"/>
              <a:t>(500);</a:t>
            </a:r>
          </a:p>
          <a:p>
            <a:pPr marL="0" indent="0"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HAL_GPIO_WritePin</a:t>
            </a:r>
            <a:r>
              <a:rPr lang="en-US" altLang="zh-CN" sz="1800" dirty="0"/>
              <a:t> (GPIOC,GPIO_PIN_13,GPIO_PIN_SET);</a:t>
            </a:r>
          </a:p>
          <a:p>
            <a:pPr marL="0" indent="0">
              <a:buNone/>
            </a:pPr>
            <a:r>
              <a:rPr lang="en-US" altLang="zh-CN" sz="1800" dirty="0"/>
              <a:t>		</a:t>
            </a:r>
            <a:r>
              <a:rPr lang="en-US" altLang="zh-CN" sz="1800" dirty="0" err="1"/>
              <a:t>HAL_Delay</a:t>
            </a:r>
            <a:r>
              <a:rPr lang="en-US" altLang="zh-CN" sz="1800" dirty="0"/>
              <a:t>(500);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41755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0974-DDCF-79F9-D2A3-A448253D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F6AAF-7276-5319-A4AD-56A8DE1EE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94B25-C02D-BDC9-2559-F643767BA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是</a:t>
            </a:r>
            <a:r>
              <a:rPr lang="en-US" altLang="zh-CN" dirty="0"/>
              <a:t>ST</a:t>
            </a:r>
            <a:r>
              <a:rPr lang="zh-CN" altLang="en-US" dirty="0"/>
              <a:t>公司基于</a:t>
            </a:r>
            <a:r>
              <a:rPr lang="en-US" altLang="zh-CN" dirty="0"/>
              <a:t>ARM Cortex-M</a:t>
            </a:r>
            <a:r>
              <a:rPr lang="zh-CN" altLang="en-US" dirty="0"/>
              <a:t>内核开发的</a:t>
            </a:r>
            <a:r>
              <a:rPr lang="en-US" altLang="zh-CN" dirty="0"/>
              <a:t>32</a:t>
            </a:r>
            <a:r>
              <a:rPr lang="zh-CN" altLang="en-US" dirty="0"/>
              <a:t>位微控制器</a:t>
            </a:r>
            <a:endParaRPr lang="en-US" altLang="zh-CN" dirty="0"/>
          </a:p>
          <a:p>
            <a:r>
              <a:rPr lang="en-US" altLang="zh-CN" dirty="0"/>
              <a:t>ARM</a:t>
            </a:r>
            <a:r>
              <a:rPr lang="zh-CN" altLang="en-US" dirty="0"/>
              <a:t>既指</a:t>
            </a:r>
            <a:r>
              <a:rPr lang="en-US" altLang="zh-CN" dirty="0"/>
              <a:t>ARM</a:t>
            </a:r>
            <a:r>
              <a:rPr lang="zh-CN" altLang="en-US" dirty="0"/>
              <a:t>公司，也指</a:t>
            </a:r>
            <a:r>
              <a:rPr lang="en-US" altLang="zh-CN" dirty="0"/>
              <a:t>ARM</a:t>
            </a:r>
            <a:r>
              <a:rPr lang="zh-CN" altLang="en-US" dirty="0"/>
              <a:t>处理器内核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6783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8E4AC-DE44-4FAF-A7E6-847A7665F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3F63F-EE07-382D-3A8F-4ACE6C1D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STM32F103C8T6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720C6-BC56-1D7B-1B1C-572B7F02C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系列：主流系列</a:t>
            </a:r>
            <a:r>
              <a:rPr lang="en-US" altLang="zh-CN" dirty="0"/>
              <a:t>STM32F1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内核：</a:t>
            </a:r>
            <a:r>
              <a:rPr lang="en-US" altLang="zh-CN" dirty="0"/>
              <a:t>ARM Cortex-M3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主频：</a:t>
            </a:r>
            <a:r>
              <a:rPr lang="en-US" altLang="zh-CN" dirty="0"/>
              <a:t>72MHz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/>
              <a:t>RAM</a:t>
            </a:r>
            <a:r>
              <a:rPr lang="zh-CN" altLang="en-US" dirty="0"/>
              <a:t>：</a:t>
            </a:r>
            <a:r>
              <a:rPr lang="en-US" altLang="zh-CN" dirty="0"/>
              <a:t>20K</a:t>
            </a:r>
            <a:r>
              <a:rPr lang="zh-CN" altLang="en-US" dirty="0"/>
              <a:t>（</a:t>
            </a:r>
            <a:r>
              <a:rPr lang="en-US" altLang="zh-CN" dirty="0"/>
              <a:t>SRAM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/>
              <a:t>ROM</a:t>
            </a:r>
            <a:r>
              <a:rPr lang="zh-CN" altLang="en-US" dirty="0"/>
              <a:t>：</a:t>
            </a:r>
            <a:r>
              <a:rPr lang="en-US" altLang="zh-CN" dirty="0"/>
              <a:t>64K</a:t>
            </a:r>
            <a:r>
              <a:rPr lang="zh-CN" altLang="en-US" dirty="0"/>
              <a:t>（</a:t>
            </a:r>
            <a:r>
              <a:rPr lang="en-US" altLang="zh-CN" dirty="0"/>
              <a:t>Flash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供电：</a:t>
            </a:r>
            <a:r>
              <a:rPr lang="en-US" altLang="zh-CN" dirty="0"/>
              <a:t>2.0~3.6V</a:t>
            </a:r>
            <a:r>
              <a:rPr lang="zh-CN" altLang="en-US" dirty="0"/>
              <a:t>（标准</a:t>
            </a:r>
            <a:r>
              <a:rPr lang="en-US" altLang="zh-CN" dirty="0"/>
              <a:t>3.3V</a:t>
            </a:r>
            <a:r>
              <a:rPr lang="zh-CN" altLang="en-US" dirty="0"/>
              <a:t>）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封装：</a:t>
            </a:r>
            <a:r>
              <a:rPr lang="en-US" altLang="zh-CN" dirty="0"/>
              <a:t>LQFP48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915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F4AA-BE48-51D2-AD86-D69823E3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8B5EA-835E-F52E-B074-5A8C10D46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46781D-A4B7-621C-DF43-4C2C532EC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是</a:t>
            </a:r>
            <a:r>
              <a:rPr lang="en-US" altLang="zh-CN" dirty="0"/>
              <a:t>ST</a:t>
            </a:r>
            <a:r>
              <a:rPr lang="zh-CN" altLang="en-US" dirty="0"/>
              <a:t>公司基于</a:t>
            </a:r>
            <a:r>
              <a:rPr lang="en-US" altLang="zh-CN" dirty="0"/>
              <a:t>ARM Cortex-M</a:t>
            </a:r>
            <a:r>
              <a:rPr lang="zh-CN" altLang="en-US" dirty="0"/>
              <a:t>内核开发的</a:t>
            </a:r>
            <a:r>
              <a:rPr lang="en-US" altLang="zh-CN" dirty="0"/>
              <a:t>32</a:t>
            </a:r>
            <a:r>
              <a:rPr lang="zh-CN" altLang="en-US" dirty="0"/>
              <a:t>位微控制器</a:t>
            </a:r>
            <a:endParaRPr lang="en-US" altLang="zh-CN" dirty="0"/>
          </a:p>
          <a:p>
            <a:r>
              <a:rPr lang="en-US" altLang="zh-CN" dirty="0"/>
              <a:t>ARM</a:t>
            </a:r>
            <a:r>
              <a:rPr lang="zh-CN" altLang="en-US" dirty="0"/>
              <a:t>既指</a:t>
            </a:r>
            <a:r>
              <a:rPr lang="en-US" altLang="zh-CN" dirty="0"/>
              <a:t>ARM</a:t>
            </a:r>
            <a:r>
              <a:rPr lang="zh-CN" altLang="en-US" dirty="0"/>
              <a:t>公司，也指</a:t>
            </a:r>
            <a:r>
              <a:rPr lang="en-US" altLang="zh-CN" dirty="0"/>
              <a:t>ARM</a:t>
            </a:r>
            <a:r>
              <a:rPr lang="zh-CN" altLang="en-US" dirty="0"/>
              <a:t>处理器内核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B09676-AD51-E632-4BD1-374340EF1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00" y="1063155"/>
            <a:ext cx="10344682" cy="561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8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BB160-DD80-85B4-157D-91BEF7961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C55D3-2FF6-CFC4-0B40-473B0371A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命名规则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32BB564-7858-C46C-4717-14FB97F58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7441" y="1291487"/>
            <a:ext cx="4745707" cy="551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1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3618-9858-6B58-91C6-566E38DC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9F27D4-E175-8597-21E1-05396CE8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系统结构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4D3C9B0-6AA6-AE7B-4BEC-88B6ECDF3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5342" y="987643"/>
            <a:ext cx="7541536" cy="577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92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354C3-35DA-AA79-4726-51B14FA5C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GPIO</a:t>
            </a:r>
            <a:r>
              <a:rPr lang="zh-CN" altLang="en-US" dirty="0"/>
              <a:t>引脚配置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0247905-0E7D-55BE-2A43-70F80EC7A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134359"/>
              </p:ext>
            </p:extLst>
          </p:nvPr>
        </p:nvGraphicFramePr>
        <p:xfrm>
          <a:off x="571500" y="1717189"/>
          <a:ext cx="11009313" cy="19412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9653">
                  <a:extLst>
                    <a:ext uri="{9D8B030D-6E8A-4147-A177-3AD203B41FA5}">
                      <a16:colId xmlns:a16="http://schemas.microsoft.com/office/drawing/2014/main" val="713807461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4272969040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1617152724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3068465347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模式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标准库宏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特点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典型用途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961457528"/>
                  </a:ext>
                </a:extLst>
              </a:tr>
              <a:tr h="41176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浮空输入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 dirty="0">
                          <a:effectLst/>
                        </a:rPr>
                        <a:t>GPIO_Mode_IN_FLOATING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引脚悬空，电平完全由外部决定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外部已有上下拉电阻的信号输入、USART_RX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52498945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上拉输入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>
                          <a:effectLst/>
                        </a:rPr>
                        <a:t>GPIO_Mode_IPU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内部接上拉电阻，默认高电平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按键（按下接 GND）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8829532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下拉输入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>
                          <a:effectLst/>
                        </a:rPr>
                        <a:t>GPIO_Mode_IPD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内部接下拉电阻，默认低电平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按键（按下接 VCC）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26136797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模拟输入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>
                          <a:effectLst/>
                        </a:rPr>
                        <a:t>GPIO_Mode_AIN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关闭数字电路，信号直通 ADC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ADC 采集、低功耗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5094108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8403F27-6C32-1DEC-A597-6C940C31D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17855"/>
              </p:ext>
            </p:extLst>
          </p:nvPr>
        </p:nvGraphicFramePr>
        <p:xfrm>
          <a:off x="611187" y="4254035"/>
          <a:ext cx="10969626" cy="1713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9966">
                  <a:extLst>
                    <a:ext uri="{9D8B030D-6E8A-4147-A177-3AD203B41FA5}">
                      <a16:colId xmlns:a16="http://schemas.microsoft.com/office/drawing/2014/main" val="957422935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3785866344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1844339559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3656341045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模式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标准库宏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特点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典型用途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73752396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推挽输出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>
                          <a:effectLst/>
                        </a:rPr>
                        <a:t>GPIO_Mode_Out_PP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强驱动高低电平，不能线与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LED、继电器、普通数字输出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2394529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开漏输出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 dirty="0">
                          <a:effectLst/>
                        </a:rPr>
                        <a:t>GPIO_Mode_Out_OD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只能拉低，高电平靠外部上拉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I2C、电平转换、线与总线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57465254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复用推挽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 dirty="0">
                          <a:effectLst/>
                        </a:rPr>
                        <a:t>GPIO_Mode_AF_PP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推挽，但控制权交给外设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USART_TX、SPI_SCK、PWM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26935271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复用开漏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000">
                          <a:effectLst/>
                        </a:rPr>
                        <a:t>GPIO_Mode_AF_OD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开漏，控制权交给外设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I2C 的 SCL/SDA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593433413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53598F7-DA89-CCD2-6ACC-59E4C5ADD6F1}"/>
              </a:ext>
            </a:extLst>
          </p:cNvPr>
          <p:cNvSpPr txBox="1"/>
          <p:nvPr/>
        </p:nvSpPr>
        <p:spPr>
          <a:xfrm>
            <a:off x="611187" y="1240285"/>
            <a:ext cx="1096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输入模式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AA1054-529F-89A1-85FA-194D30D7E861}"/>
              </a:ext>
            </a:extLst>
          </p:cNvPr>
          <p:cNvSpPr txBox="1"/>
          <p:nvPr/>
        </p:nvSpPr>
        <p:spPr>
          <a:xfrm>
            <a:off x="611187" y="3777131"/>
            <a:ext cx="1096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输出模式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E88B6F-4503-B762-047A-DD1A13D901A8}"/>
              </a:ext>
            </a:extLst>
          </p:cNvPr>
          <p:cNvSpPr txBox="1"/>
          <p:nvPr/>
        </p:nvSpPr>
        <p:spPr>
          <a:xfrm>
            <a:off x="611187" y="6193520"/>
            <a:ext cx="1096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注意：</a:t>
            </a:r>
            <a:r>
              <a:rPr lang="zh-CN" altLang="zh-CN" b="1" dirty="0"/>
              <a:t>只有输出模式才需要设置 </a:t>
            </a:r>
            <a:r>
              <a:rPr lang="zh-CN" altLang="zh-CN" dirty="0"/>
              <a:t>GPIO_Speed，输入模式下这个参数被忽略。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9028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01CF8-AD68-DE28-480F-CE2FAB6F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6099765-E49B-67A3-B0EC-8D53A41D8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439" y="950615"/>
            <a:ext cx="6478676" cy="590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41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AAF7D-31A8-0777-C4DB-F3228D242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CUBEMX</a:t>
            </a:r>
            <a:r>
              <a:rPr lang="zh-CN" altLang="en-US" dirty="0"/>
              <a:t>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771DEE-B3F0-BBEA-25A3-F4C09AD38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RCC</a:t>
            </a:r>
            <a:r>
              <a:rPr lang="zh-CN" altLang="en-US" dirty="0"/>
              <a:t>：开</a:t>
            </a:r>
            <a:r>
              <a:rPr lang="en-US" altLang="zh-CN" dirty="0"/>
              <a:t>HSE</a:t>
            </a:r>
            <a:r>
              <a:rPr lang="zh-CN" altLang="en-US" dirty="0"/>
              <a:t>（高速外部时钟）</a:t>
            </a:r>
            <a:endParaRPr lang="en-US" altLang="zh-CN" dirty="0"/>
          </a:p>
          <a:p>
            <a:r>
              <a:rPr lang="en-US" altLang="zh-CN" dirty="0"/>
              <a:t>SYS</a:t>
            </a:r>
            <a:r>
              <a:rPr lang="zh-CN" altLang="en-US" dirty="0"/>
              <a:t>：</a:t>
            </a:r>
            <a:r>
              <a:rPr lang="en-US" altLang="zh-CN" dirty="0"/>
              <a:t>Debug</a:t>
            </a:r>
            <a:r>
              <a:rPr lang="zh-CN" altLang="en-US" dirty="0"/>
              <a:t>选</a:t>
            </a:r>
            <a:r>
              <a:rPr lang="en-US" altLang="zh-CN" dirty="0"/>
              <a:t>SW</a:t>
            </a:r>
            <a:r>
              <a:rPr lang="zh-CN" altLang="en-US" dirty="0"/>
              <a:t>（</a:t>
            </a:r>
            <a:r>
              <a:rPr lang="en-US" altLang="zh-CN" dirty="0" err="1"/>
              <a:t>swd</a:t>
            </a:r>
            <a:r>
              <a:rPr lang="zh-CN" altLang="en-US" dirty="0"/>
              <a:t>调试接口）</a:t>
            </a:r>
            <a:endParaRPr lang="en-US" altLang="zh-CN" dirty="0"/>
          </a:p>
          <a:p>
            <a:r>
              <a:rPr lang="en-US" altLang="zh-CN" dirty="0"/>
              <a:t>Clock Configuration</a:t>
            </a:r>
            <a:r>
              <a:rPr lang="zh-CN" altLang="en-US" dirty="0"/>
              <a:t>：选中</a:t>
            </a:r>
            <a:r>
              <a:rPr lang="en-US" altLang="zh-CN" dirty="0"/>
              <a:t>HSE</a:t>
            </a:r>
            <a:r>
              <a:rPr lang="zh-CN" altLang="en-US" dirty="0"/>
              <a:t>，把时钟频率调最大</a:t>
            </a:r>
            <a:endParaRPr lang="en-US" altLang="zh-CN" dirty="0"/>
          </a:p>
          <a:p>
            <a:r>
              <a:rPr lang="en-US" altLang="zh-CN" dirty="0"/>
              <a:t>Project Manager</a:t>
            </a:r>
            <a:r>
              <a:rPr lang="zh-CN" altLang="en-US" dirty="0"/>
              <a:t>：</a:t>
            </a:r>
            <a:r>
              <a:rPr lang="en-US" altLang="zh-CN" dirty="0"/>
              <a:t>project</a:t>
            </a:r>
            <a:r>
              <a:rPr lang="zh-CN" altLang="en-US" dirty="0"/>
              <a:t>内</a:t>
            </a:r>
            <a:r>
              <a:rPr lang="en-US" altLang="zh-CN" dirty="0"/>
              <a:t>IDE</a:t>
            </a:r>
            <a:r>
              <a:rPr lang="zh-CN" altLang="en-US" dirty="0"/>
              <a:t>选</a:t>
            </a:r>
            <a:r>
              <a:rPr lang="en-US" altLang="zh-CN" dirty="0"/>
              <a:t>MDK-ARM</a:t>
            </a:r>
            <a:r>
              <a:rPr lang="zh-CN" altLang="en-US" dirty="0"/>
              <a:t>，</a:t>
            </a:r>
            <a:r>
              <a:rPr lang="en-US" altLang="zh-CN" dirty="0"/>
              <a:t>Code Generator</a:t>
            </a:r>
            <a:r>
              <a:rPr lang="zh-CN" altLang="en-US" dirty="0"/>
              <a:t>勾选“</a:t>
            </a:r>
            <a:r>
              <a:rPr lang="en-US" altLang="zh-CN" dirty="0"/>
              <a:t>.c/.h</a:t>
            </a:r>
            <a:r>
              <a:rPr lang="zh-CN" altLang="en-US" dirty="0"/>
              <a:t>”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7880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C1C4E-71DC-2949-8B7C-901F9D49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OLED</a:t>
            </a:r>
            <a:r>
              <a:rPr lang="zh-CN" altLang="en-US" dirty="0"/>
              <a:t>驱动</a:t>
            </a:r>
          </a:p>
        </p:txBody>
      </p:sp>
      <p:sp>
        <p:nvSpPr>
          <p:cNvPr id="14" name="内容占位符 4">
            <a:extLst>
              <a:ext uri="{FF2B5EF4-FFF2-40B4-BE49-F238E27FC236}">
                <a16:creationId xmlns:a16="http://schemas.microsoft.com/office/drawing/2014/main" id="{82302334-9746-90A7-3636-E45EF4D9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961" y="5595854"/>
            <a:ext cx="9092995" cy="110078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CN" altLang="zh-CN" dirty="0"/>
              <a:t>C 语言里每个字符串末尾，编译器会自动加一个 '\0'（ASCII 值为 0）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OLED 分页，一页 8 像素。16 号字高 16 像素 = 2 页，所以换行要跳 2 页。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学会怎么调用驱动函数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E27AF1-2C0A-0A40-FE5A-A58EA75EF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29" y="1003166"/>
            <a:ext cx="4647854" cy="7584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7985A6-59C4-14A1-23C9-B8358F251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10" y="1873160"/>
            <a:ext cx="8274475" cy="138437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E3E68A-59DF-45D8-2DE1-A50561F3C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44" y="3369089"/>
            <a:ext cx="6286823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70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DF13-A131-02A4-D9CF-A0D384DF0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381A7-2C71-DD10-D9F8-D5F61204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EXTI</a:t>
            </a:r>
            <a:r>
              <a:rPr lang="zh-CN" altLang="en-US" dirty="0"/>
              <a:t>外部中断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E643D2-EEA0-1288-1F79-114B585F0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b="1" dirty="0"/>
              <a:t>EXTI（External interrupt/event controller）—外部中断/事件控制器，管理了控制器的 20个中断/事件线。每个中断/事件线都对应有一个边沿检测器，可以实现输入信号的上升沿检测和下降沿的检测。EXTI 可以实现对每个中断/事件线进行单独配置，可以单独配置为中断或者事件，以及触发事件的属性。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将其写成标准形式就是：</a:t>
            </a:r>
          </a:p>
        </p:txBody>
      </p:sp>
    </p:spTree>
    <p:extLst>
      <p:ext uri="{BB962C8B-B14F-4D97-AF65-F5344CB8AC3E}">
        <p14:creationId xmlns:p14="http://schemas.microsoft.com/office/powerpoint/2010/main" val="1346979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290A-69D7-5423-9790-CD38DED3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1EE5D8-23F0-384E-1D50-C3188E3D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预分频系数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6B741E-94C1-C4CD-DD22-ED802181C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STM32 </a:t>
            </a:r>
            <a:r>
              <a:rPr lang="zh-CN" altLang="en-US" dirty="0"/>
              <a:t>定时器时钟通常为 </a:t>
            </a:r>
            <a:r>
              <a:rPr lang="en-US" altLang="zh-CN" dirty="0"/>
              <a:t>72MHz</a:t>
            </a:r>
            <a:r>
              <a:rPr lang="zh-CN" altLang="en-US" dirty="0"/>
              <a:t>，如果 </a:t>
            </a:r>
            <a:r>
              <a:rPr lang="en-US" altLang="zh-CN" dirty="0"/>
              <a:t>CNT </a:t>
            </a:r>
            <a:r>
              <a:rPr lang="zh-CN" altLang="en-US" dirty="0"/>
              <a:t>直接按 </a:t>
            </a:r>
            <a:r>
              <a:rPr lang="en-US" altLang="zh-CN" dirty="0"/>
              <a:t>72MHz </a:t>
            </a:r>
            <a:r>
              <a:rPr lang="zh-CN" altLang="en-US" dirty="0"/>
              <a:t>计数：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每 </a:t>
            </a:r>
            <a:r>
              <a:rPr lang="en-US" altLang="zh-CN" dirty="0"/>
              <a:t>1/72MHz ≈ 13.9ns</a:t>
            </a:r>
            <a:r>
              <a:rPr lang="zh-CN" altLang="en-US" dirty="0"/>
              <a:t>，</a:t>
            </a:r>
            <a:r>
              <a:rPr lang="en-US" altLang="zh-CN" dirty="0"/>
              <a:t>CNT </a:t>
            </a:r>
            <a:r>
              <a:rPr lang="zh-CN" altLang="en-US" dirty="0"/>
              <a:t>加 </a:t>
            </a:r>
            <a:r>
              <a:rPr lang="en-US" altLang="zh-CN" dirty="0"/>
              <a:t>1-</a:t>
            </a:r>
            <a:r>
              <a:rPr lang="zh-CN" altLang="en-US" dirty="0"/>
              <a:t>，</a:t>
            </a:r>
            <a:r>
              <a:rPr lang="en-US" altLang="zh-CN" dirty="0"/>
              <a:t>CNT </a:t>
            </a:r>
            <a:r>
              <a:rPr lang="zh-CN" altLang="en-US" dirty="0"/>
              <a:t>是 </a:t>
            </a:r>
            <a:r>
              <a:rPr lang="en-US" altLang="zh-CN" dirty="0"/>
              <a:t>16 </a:t>
            </a:r>
            <a:r>
              <a:rPr lang="zh-CN" altLang="en-US" dirty="0"/>
              <a:t>位，最大 </a:t>
            </a:r>
            <a:r>
              <a:rPr lang="en-US" altLang="zh-CN" dirty="0"/>
              <a:t>65535</a:t>
            </a:r>
          </a:p>
          <a:p>
            <a:pPr marL="0" indent="0">
              <a:buNone/>
            </a:pPr>
            <a:r>
              <a:rPr lang="zh-CN" altLang="en-US" dirty="0"/>
              <a:t>从 </a:t>
            </a:r>
            <a:r>
              <a:rPr lang="en-US" altLang="zh-CN" dirty="0"/>
              <a:t>0 </a:t>
            </a:r>
            <a:r>
              <a:rPr lang="zh-CN" altLang="en-US" dirty="0"/>
              <a:t>到 </a:t>
            </a:r>
            <a:r>
              <a:rPr lang="en-US" altLang="zh-CN" dirty="0"/>
              <a:t>65535 </a:t>
            </a:r>
            <a:r>
              <a:rPr lang="zh-CN" altLang="en-US" dirty="0"/>
              <a:t>只要约 </a:t>
            </a:r>
            <a:r>
              <a:rPr lang="en-US" altLang="zh-CN" dirty="0"/>
              <a:t>0.91ms</a:t>
            </a:r>
            <a:r>
              <a:rPr lang="zh-CN" altLang="en-US" dirty="0"/>
              <a:t>这样太快，不方便定时 </a:t>
            </a:r>
            <a:r>
              <a:rPr lang="en-US" altLang="zh-CN" dirty="0"/>
              <a:t>1s</a:t>
            </a:r>
            <a:r>
              <a:rPr lang="zh-CN" altLang="en-US" dirty="0"/>
              <a:t>、</a:t>
            </a:r>
            <a:r>
              <a:rPr lang="en-US" altLang="zh-CN" dirty="0"/>
              <a:t>2s</a:t>
            </a:r>
            <a:r>
              <a:rPr lang="zh-CN" altLang="en-US" dirty="0"/>
              <a:t>，所以需要 </a:t>
            </a:r>
            <a:r>
              <a:rPr lang="en-US" altLang="zh-CN" dirty="0"/>
              <a:t>PSC </a:t>
            </a:r>
            <a:r>
              <a:rPr lang="zh-CN" altLang="en-US" dirty="0"/>
              <a:t>先分频。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CNT </a:t>
            </a:r>
            <a:r>
              <a:rPr lang="zh-CN" altLang="en-US" dirty="0"/>
              <a:t>计数频率 </a:t>
            </a:r>
            <a:r>
              <a:rPr lang="en-US" altLang="zh-CN" dirty="0"/>
              <a:t>= HCLK/ (PSC + 1)</a:t>
            </a:r>
          </a:p>
          <a:p>
            <a:pPr marL="0" indent="0">
              <a:buNone/>
            </a:pPr>
            <a:r>
              <a:rPr lang="zh-CN" altLang="en-US" dirty="0"/>
              <a:t>定时时间</a:t>
            </a:r>
            <a:r>
              <a:rPr lang="en-US" altLang="zh-CN" dirty="0"/>
              <a:t>t</a:t>
            </a:r>
            <a:r>
              <a:rPr lang="zh-CN" altLang="en-US" dirty="0"/>
              <a:t> </a:t>
            </a:r>
            <a:r>
              <a:rPr lang="en-US" altLang="zh-CN" dirty="0"/>
              <a:t>= (PSC + 1) × (ARR + 1) / HCLK</a:t>
            </a:r>
          </a:p>
          <a:p>
            <a:pPr marL="0" indent="0">
              <a:buNone/>
            </a:pPr>
            <a:r>
              <a:rPr lang="zh-CN" altLang="en-US" dirty="0"/>
              <a:t>更新频率 </a:t>
            </a:r>
            <a:r>
              <a:rPr lang="en-US" altLang="zh-CN" dirty="0"/>
              <a:t>= HCLK/ ((PSC + 1) × (ARR + 1))</a:t>
            </a:r>
          </a:p>
          <a:p>
            <a:pPr marL="0" indent="0">
              <a:buNone/>
            </a:pPr>
            <a:r>
              <a:rPr lang="en-US" altLang="zh-CN" dirty="0"/>
              <a:t>PSC</a:t>
            </a:r>
            <a:r>
              <a:rPr lang="zh-CN" altLang="en-US" dirty="0"/>
              <a:t>：决定 </a:t>
            </a:r>
            <a:r>
              <a:rPr lang="en-US" altLang="zh-CN" dirty="0"/>
              <a:t>CNT </a:t>
            </a:r>
            <a:r>
              <a:rPr lang="zh-CN" altLang="en-US" dirty="0"/>
              <a:t>多久加一次。</a:t>
            </a:r>
            <a:r>
              <a:rPr lang="en-US" altLang="zh-CN" dirty="0"/>
              <a:t>ARR</a:t>
            </a:r>
            <a:r>
              <a:rPr lang="zh-CN" altLang="en-US" dirty="0"/>
              <a:t>：决定 </a:t>
            </a:r>
            <a:r>
              <a:rPr lang="en-US" altLang="zh-CN" dirty="0"/>
              <a:t>CNT </a:t>
            </a:r>
            <a:r>
              <a:rPr lang="zh-CN" altLang="en-US" dirty="0"/>
              <a:t>加到多少溢出。</a:t>
            </a:r>
          </a:p>
        </p:txBody>
      </p:sp>
    </p:spTree>
    <p:extLst>
      <p:ext uri="{BB962C8B-B14F-4D97-AF65-F5344CB8AC3E}">
        <p14:creationId xmlns:p14="http://schemas.microsoft.com/office/powerpoint/2010/main" val="361694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9D2F6-AD60-C4AC-27B5-336B0466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56971-FA0D-80CA-972C-526845F0C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微秒级延时函数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F9260-4C14-148B-55AA-C165EE98E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/>
              <a:t>void </a:t>
            </a:r>
            <a:r>
              <a:rPr lang="en-US" altLang="zh-CN" dirty="0" err="1"/>
              <a:t>RCCdelay_us</a:t>
            </a:r>
            <a:r>
              <a:rPr lang="en-US" altLang="zh-CN" dirty="0"/>
              <a:t>(uint32_t </a:t>
            </a:r>
            <a:r>
              <a:rPr lang="en-US" altLang="zh-CN" dirty="0" err="1"/>
              <a:t>udelay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{</a:t>
            </a:r>
          </a:p>
          <a:p>
            <a:pPr marL="0" indent="0">
              <a:buNone/>
            </a:pPr>
            <a:r>
              <a:rPr lang="en-US" altLang="zh-CN" dirty="0"/>
              <a:t>  __IO uint32_t Delay = </a:t>
            </a:r>
            <a:r>
              <a:rPr lang="en-US" altLang="zh-CN" dirty="0" err="1"/>
              <a:t>udelay</a:t>
            </a:r>
            <a:r>
              <a:rPr lang="en-US" altLang="zh-CN" dirty="0"/>
              <a:t> * 72 / 8;//(</a:t>
            </a:r>
            <a:r>
              <a:rPr lang="en-US" altLang="zh-CN" dirty="0" err="1"/>
              <a:t>SystemCoreClock</a:t>
            </a:r>
            <a:r>
              <a:rPr lang="en-US" altLang="zh-CN" dirty="0"/>
              <a:t> / 8U / 1000000U)</a:t>
            </a:r>
          </a:p>
          <a:p>
            <a:pPr marL="0" indent="0">
              <a:buNone/>
            </a:pPr>
            <a:r>
              <a:rPr lang="en-US" altLang="zh-CN" dirty="0"/>
              <a:t>    //</a:t>
            </a:r>
            <a:r>
              <a:rPr lang="zh-CN" altLang="en-US" dirty="0"/>
              <a:t>见</a:t>
            </a:r>
            <a:r>
              <a:rPr lang="en-US" altLang="zh-CN" dirty="0"/>
              <a:t>stm32f1xx_hal_rcc.c -- static void </a:t>
            </a:r>
            <a:r>
              <a:rPr lang="en-US" altLang="zh-CN" dirty="0" err="1"/>
              <a:t>RCC_Delay</a:t>
            </a:r>
            <a:r>
              <a:rPr lang="en-US" altLang="zh-CN" dirty="0"/>
              <a:t>(uint32_t </a:t>
            </a:r>
            <a:r>
              <a:rPr lang="en-US" altLang="zh-CN" dirty="0" err="1"/>
              <a:t>mdelay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do</a:t>
            </a:r>
          </a:p>
          <a:p>
            <a:pPr marL="0" indent="0">
              <a:buNone/>
            </a:pPr>
            <a:r>
              <a:rPr lang="en-US" altLang="zh-CN" dirty="0"/>
              <a:t>  {</a:t>
            </a:r>
          </a:p>
          <a:p>
            <a:pPr marL="0" indent="0">
              <a:buNone/>
            </a:pPr>
            <a:r>
              <a:rPr lang="en-US" altLang="zh-CN" dirty="0"/>
              <a:t>    __NOP();//</a:t>
            </a:r>
            <a:r>
              <a:rPr lang="zh-CN" altLang="en-US" dirty="0"/>
              <a:t>空指令，空转</a:t>
            </a:r>
            <a:r>
              <a:rPr lang="en-US" altLang="zh-CN" dirty="0"/>
              <a:t>CPU</a:t>
            </a:r>
          </a:p>
          <a:p>
            <a:pPr marL="0" indent="0">
              <a:buNone/>
            </a:pPr>
            <a:r>
              <a:rPr lang="en-US" altLang="zh-CN" dirty="0"/>
              <a:t>  }</a:t>
            </a:r>
          </a:p>
          <a:p>
            <a:pPr marL="0" indent="0">
              <a:buNone/>
            </a:pPr>
            <a:r>
              <a:rPr lang="en-US" altLang="zh-CN" dirty="0"/>
              <a:t>  while (Delay --);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21914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0C3B1-BABA-58D1-7389-50657887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超声波测距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F2A737-5367-CC26-01D9-B812B633D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721"/>
            <a:ext cx="12192000" cy="58892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/>
              <a:t>HC-SR05</a:t>
            </a:r>
            <a:r>
              <a:rPr lang="zh-CN" altLang="en-US" dirty="0"/>
              <a:t>模块由超声波发射器（</a:t>
            </a:r>
            <a:r>
              <a:rPr lang="en-US" altLang="zh-CN" dirty="0"/>
              <a:t>TXR</a:t>
            </a:r>
            <a:r>
              <a:rPr lang="zh-CN" altLang="en-US" dirty="0"/>
              <a:t>）、超声波接收器（</a:t>
            </a:r>
            <a:r>
              <a:rPr lang="en-US" altLang="zh-CN" dirty="0"/>
              <a:t>RXR</a:t>
            </a:r>
            <a:r>
              <a:rPr lang="zh-CN" altLang="en-US" dirty="0"/>
              <a:t>）、内部控制</a:t>
            </a:r>
            <a:r>
              <a:rPr lang="en-US" altLang="zh-CN" dirty="0"/>
              <a:t>MCU</a:t>
            </a:r>
            <a:r>
              <a:rPr lang="zh-CN" altLang="en-US" dirty="0"/>
              <a:t>、电源滤波电路四部分组成（部分简化版省略滤波电路，但核心功能一致），完整工作流程需外部控制器（如单片机）与模块协同完成，共</a:t>
            </a:r>
            <a:r>
              <a:rPr lang="en-US" altLang="zh-CN" dirty="0"/>
              <a:t>5</a:t>
            </a:r>
            <a:r>
              <a:rPr lang="zh-CN" altLang="en-US" dirty="0"/>
              <a:t>个步骤：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外部触发：向</a:t>
            </a:r>
            <a:r>
              <a:rPr lang="en-US" altLang="zh-CN" dirty="0"/>
              <a:t>TRIG</a:t>
            </a:r>
            <a:r>
              <a:rPr lang="zh-CN" altLang="en-US" dirty="0"/>
              <a:t>引脚输入触发信号外部控制器需向模块的 </a:t>
            </a:r>
            <a:r>
              <a:rPr lang="en-US" altLang="zh-CN" dirty="0"/>
              <a:t>TRIG</a:t>
            </a:r>
            <a:r>
              <a:rPr lang="zh-CN" altLang="en-US" dirty="0"/>
              <a:t>引脚 发送一个 持续时间≥</a:t>
            </a:r>
            <a:r>
              <a:rPr lang="en-US" altLang="zh-CN" dirty="0"/>
              <a:t>10μs</a:t>
            </a:r>
            <a:r>
              <a:rPr lang="zh-CN" altLang="en-US" dirty="0"/>
              <a:t>的高电平信号，触发模块进入测距模式：信号要求：高电平持续时间需严格控制（建议</a:t>
            </a:r>
            <a:r>
              <a:rPr lang="en-US" altLang="zh-CN" dirty="0"/>
              <a:t>10-20μs</a:t>
            </a:r>
            <a:r>
              <a:rPr lang="zh-CN" altLang="en-US" dirty="0"/>
              <a:t>），过短（</a:t>
            </a:r>
            <a:r>
              <a:rPr lang="en-US" altLang="zh-CN" dirty="0"/>
              <a:t>&lt;10μs</a:t>
            </a:r>
            <a:r>
              <a:rPr lang="zh-CN" altLang="en-US" dirty="0"/>
              <a:t>）会导致模块无法识别触发指令，过长（</a:t>
            </a:r>
            <a:r>
              <a:rPr lang="en-US" altLang="zh-CN" dirty="0"/>
              <a:t>&gt;50μs</a:t>
            </a:r>
            <a:r>
              <a:rPr lang="zh-CN" altLang="en-US" dirty="0"/>
              <a:t>）可能引发内部</a:t>
            </a:r>
            <a:r>
              <a:rPr lang="en-US" altLang="zh-CN" dirty="0"/>
              <a:t>MCU</a:t>
            </a:r>
            <a:r>
              <a:rPr lang="zh-CN" altLang="en-US" dirty="0"/>
              <a:t>误判；示例：</a:t>
            </a:r>
            <a:r>
              <a:rPr lang="en-US" altLang="zh-CN" dirty="0"/>
              <a:t>STM32</a:t>
            </a:r>
            <a:r>
              <a:rPr lang="zh-CN" altLang="en-US" dirty="0"/>
              <a:t>单片机通过</a:t>
            </a:r>
            <a:r>
              <a:rPr lang="en-US" altLang="zh-CN" dirty="0"/>
              <a:t>GPIO</a:t>
            </a:r>
            <a:r>
              <a:rPr lang="zh-CN" altLang="en-US" dirty="0"/>
              <a:t>口输出</a:t>
            </a:r>
            <a:r>
              <a:rPr lang="en-US" altLang="zh-CN" dirty="0"/>
              <a:t>15μs</a:t>
            </a:r>
            <a:r>
              <a:rPr lang="zh-CN" altLang="en-US" dirty="0"/>
              <a:t>高电平，可稳定触发</a:t>
            </a:r>
            <a:r>
              <a:rPr lang="en-US" altLang="zh-CN" dirty="0"/>
              <a:t>HC-SR05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zh-CN" altLang="en-US" dirty="0"/>
              <a:t>声波发射：</a:t>
            </a:r>
            <a:r>
              <a:rPr lang="en-US" altLang="zh-CN" dirty="0"/>
              <a:t>TXR</a:t>
            </a:r>
            <a:r>
              <a:rPr lang="zh-CN" altLang="en-US" dirty="0"/>
              <a:t>输出</a:t>
            </a:r>
            <a:r>
              <a:rPr lang="en-US" altLang="zh-CN" dirty="0"/>
              <a:t>40kHz</a:t>
            </a:r>
            <a:r>
              <a:rPr lang="zh-CN" altLang="en-US" dirty="0"/>
              <a:t>超声波脉冲模块内部</a:t>
            </a:r>
            <a:r>
              <a:rPr lang="en-US" altLang="zh-CN" dirty="0"/>
              <a:t>MCU</a:t>
            </a:r>
            <a:r>
              <a:rPr lang="zh-CN" altLang="en-US" dirty="0"/>
              <a:t>接收到</a:t>
            </a:r>
            <a:r>
              <a:rPr lang="en-US" altLang="zh-CN" dirty="0"/>
              <a:t>TRIG</a:t>
            </a:r>
            <a:r>
              <a:rPr lang="zh-CN" altLang="en-US" dirty="0"/>
              <a:t>触发信号后，会驱动发射器（</a:t>
            </a:r>
            <a:r>
              <a:rPr lang="en-US" altLang="zh-CN" dirty="0"/>
              <a:t>TXR</a:t>
            </a:r>
            <a:r>
              <a:rPr lang="zh-CN" altLang="en-US" dirty="0"/>
              <a:t>，通常为压电陶瓷换能器）输出 </a:t>
            </a:r>
            <a:r>
              <a:rPr lang="en-US" altLang="zh-CN" dirty="0"/>
              <a:t>8</a:t>
            </a:r>
            <a:r>
              <a:rPr lang="zh-CN" altLang="en-US" dirty="0"/>
              <a:t>个连续的</a:t>
            </a:r>
            <a:r>
              <a:rPr lang="en-US" altLang="zh-CN" dirty="0"/>
              <a:t>40kHz</a:t>
            </a:r>
            <a:r>
              <a:rPr lang="zh-CN" altLang="en-US" dirty="0"/>
              <a:t>正弦波脉冲：频率选择原因：</a:t>
            </a:r>
            <a:r>
              <a:rPr lang="en-US" altLang="zh-CN" dirty="0"/>
              <a:t>40kHz</a:t>
            </a:r>
            <a:r>
              <a:rPr lang="zh-CN" altLang="en-US" dirty="0"/>
              <a:t>是“测距距离”与“抗干扰能力”的平衡点</a:t>
            </a:r>
            <a:r>
              <a:rPr lang="en-US" altLang="zh-CN" dirty="0"/>
              <a:t>——</a:t>
            </a:r>
            <a:r>
              <a:rPr lang="zh-CN" altLang="en-US" dirty="0"/>
              <a:t>低于</a:t>
            </a:r>
            <a:r>
              <a:rPr lang="en-US" altLang="zh-CN" dirty="0"/>
              <a:t>30kHz</a:t>
            </a:r>
            <a:r>
              <a:rPr lang="zh-CN" altLang="en-US" dirty="0"/>
              <a:t>易受环境噪音（如电机、风扇）干扰，高于</a:t>
            </a:r>
            <a:r>
              <a:rPr lang="en-US" altLang="zh-CN" dirty="0"/>
              <a:t>50kHz</a:t>
            </a:r>
            <a:r>
              <a:rPr lang="zh-CN" altLang="en-US" dirty="0"/>
              <a:t>会导致声波衰减过快（传播距离缩短）；脉冲数量：</a:t>
            </a:r>
            <a:r>
              <a:rPr lang="en-US" altLang="zh-CN" dirty="0"/>
              <a:t>8</a:t>
            </a:r>
            <a:r>
              <a:rPr lang="zh-CN" altLang="en-US" dirty="0"/>
              <a:t>个脉冲可确保接收器能准确识别“有效信号”，避免单脉冲因环境干扰被误判为噪音。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/>
              <a:t> </a:t>
            </a:r>
            <a:r>
              <a:rPr lang="zh-CN" altLang="en-US" dirty="0"/>
              <a:t>声波传播与回波接收：</a:t>
            </a:r>
            <a:r>
              <a:rPr lang="en-US" altLang="zh-CN" dirty="0"/>
              <a:t>RXR</a:t>
            </a:r>
            <a:r>
              <a:rPr lang="zh-CN" altLang="en-US" dirty="0"/>
              <a:t>捕获反射信号传播阶段：</a:t>
            </a:r>
            <a:r>
              <a:rPr lang="en-US" altLang="zh-CN" dirty="0"/>
              <a:t>40kHz</a:t>
            </a:r>
            <a:r>
              <a:rPr lang="zh-CN" altLang="en-US" dirty="0"/>
              <a:t>超声波以球面波形式在空气中传播，遇到障碍物（如墙面、金属板、液体表面）时，部分能量被反射形成“回波”；接收阶段：回波传播至模块时，接收器（</a:t>
            </a:r>
            <a:r>
              <a:rPr lang="en-US" altLang="zh-CN" dirty="0"/>
              <a:t>RXR</a:t>
            </a:r>
            <a:r>
              <a:rPr lang="zh-CN" altLang="en-US" dirty="0"/>
              <a:t>，与</a:t>
            </a:r>
            <a:r>
              <a:rPr lang="en-US" altLang="zh-CN" dirty="0"/>
              <a:t>TXR</a:t>
            </a:r>
            <a:r>
              <a:rPr lang="zh-CN" altLang="en-US" dirty="0"/>
              <a:t>结构相同，功能为“声</a:t>
            </a:r>
            <a:r>
              <a:rPr lang="en-US" altLang="zh-CN" dirty="0"/>
              <a:t>-</a:t>
            </a:r>
            <a:r>
              <a:rPr lang="zh-CN" altLang="en-US" dirty="0"/>
              <a:t>电转换”）将机械波信号转换为微弱的电信号，经内部放大电路（通常为运算放大器）放大后，传递给内部</a:t>
            </a:r>
            <a:r>
              <a:rPr lang="en-US" altLang="zh-CN" dirty="0"/>
              <a:t>MCU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/>
              <a:t> </a:t>
            </a:r>
            <a:r>
              <a:rPr lang="zh-CN" altLang="en-US" dirty="0"/>
              <a:t>回波反馈：</a:t>
            </a:r>
            <a:r>
              <a:rPr lang="en-US" altLang="zh-CN" dirty="0"/>
              <a:t>ECHO</a:t>
            </a:r>
            <a:r>
              <a:rPr lang="zh-CN" altLang="en-US" dirty="0"/>
              <a:t>引脚输出高电平计时信号模块内部</a:t>
            </a:r>
            <a:r>
              <a:rPr lang="en-US" altLang="zh-CN" dirty="0"/>
              <a:t>MCU</a:t>
            </a:r>
            <a:r>
              <a:rPr lang="zh-CN" altLang="en-US" dirty="0"/>
              <a:t>检测到放大后的回波电信号后，立即控制 </a:t>
            </a:r>
            <a:r>
              <a:rPr lang="en-US" altLang="zh-CN" dirty="0"/>
              <a:t>ECHO</a:t>
            </a:r>
            <a:r>
              <a:rPr lang="zh-CN" altLang="en-US" dirty="0"/>
              <a:t>引脚 输出高电平，直至回波信号消失（或内部超时）：高电平持续时间意义：</a:t>
            </a:r>
            <a:r>
              <a:rPr lang="en-US" altLang="zh-CN" dirty="0"/>
              <a:t>ECHO</a:t>
            </a:r>
            <a:r>
              <a:rPr lang="zh-CN" altLang="en-US" dirty="0"/>
              <a:t>引脚高电平的 总持续时间 </a:t>
            </a:r>
            <a:r>
              <a:rPr lang="en-US" altLang="zh-CN" dirty="0"/>
              <a:t>( t )</a:t>
            </a:r>
            <a:r>
              <a:rPr lang="zh-CN" altLang="en-US" dirty="0"/>
              <a:t>，等于“超声波从</a:t>
            </a:r>
            <a:r>
              <a:rPr lang="en-US" altLang="zh-CN" dirty="0"/>
              <a:t>TXR</a:t>
            </a:r>
            <a:r>
              <a:rPr lang="zh-CN" altLang="en-US" dirty="0"/>
              <a:t>发射到</a:t>
            </a:r>
            <a:r>
              <a:rPr lang="en-US" altLang="zh-CN" dirty="0"/>
              <a:t>RXR</a:t>
            </a:r>
            <a:r>
              <a:rPr lang="zh-CN" altLang="en-US" dirty="0"/>
              <a:t>接收”的往返时间（即声波从模块到障碍物再返回模块的总时间）；超时机制：若模块在发射声波后 </a:t>
            </a:r>
            <a:r>
              <a:rPr lang="en-US" altLang="zh-CN" dirty="0"/>
              <a:t>38ms</a:t>
            </a:r>
            <a:r>
              <a:rPr lang="zh-CN" altLang="en-US" dirty="0"/>
              <a:t>内未接收到回波（对应最大测距距离约</a:t>
            </a:r>
            <a:r>
              <a:rPr lang="en-US" altLang="zh-CN" dirty="0"/>
              <a:t>6.5m</a:t>
            </a:r>
            <a:r>
              <a:rPr lang="zh-CN" altLang="en-US" dirty="0"/>
              <a:t>，远超模块标称的</a:t>
            </a:r>
            <a:r>
              <a:rPr lang="en-US" altLang="zh-CN" dirty="0"/>
              <a:t>4m</a:t>
            </a:r>
            <a:r>
              <a:rPr lang="zh-CN" altLang="en-US" dirty="0"/>
              <a:t>上限），</a:t>
            </a:r>
            <a:r>
              <a:rPr lang="en-US" altLang="zh-CN" dirty="0"/>
              <a:t>ECHO</a:t>
            </a:r>
            <a:r>
              <a:rPr lang="zh-CN" altLang="en-US" dirty="0"/>
              <a:t>引脚会自动拉低，避免长期占用外部控制器资源。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/>
              <a:t> </a:t>
            </a:r>
            <a:r>
              <a:rPr lang="zh-CN" altLang="en-US" dirty="0"/>
              <a:t>距离计算：外部控制器计算单程距离外部控制器通过定时器（或中断）读取</a:t>
            </a:r>
            <a:r>
              <a:rPr lang="en-US" altLang="zh-CN" dirty="0"/>
              <a:t>ECHO</a:t>
            </a:r>
            <a:r>
              <a:rPr lang="zh-CN" altLang="en-US" dirty="0"/>
              <a:t>引脚高电平的持续时间 </a:t>
            </a:r>
            <a:r>
              <a:rPr lang="en-US" altLang="zh-CN" dirty="0"/>
              <a:t>( t )</a:t>
            </a:r>
            <a:r>
              <a:rPr lang="zh-CN" altLang="en-US" dirty="0"/>
              <a:t>，结合校准后的声速 </a:t>
            </a:r>
            <a:r>
              <a:rPr lang="en-US" altLang="zh-CN" dirty="0"/>
              <a:t>( v )</a:t>
            </a:r>
            <a:r>
              <a:rPr lang="zh-CN" altLang="en-US" dirty="0"/>
              <a:t>，计算模块与障碍物的 单程距离 </a:t>
            </a:r>
            <a:r>
              <a:rPr lang="en-US" altLang="zh-CN" dirty="0"/>
              <a:t>( d )</a:t>
            </a:r>
            <a:r>
              <a:rPr lang="zh-CN" altLang="en-US" dirty="0"/>
              <a:t>：公式推导：声波往返距离 </a:t>
            </a:r>
            <a:r>
              <a:rPr lang="en-US" altLang="zh-CN" dirty="0"/>
              <a:t>= </a:t>
            </a:r>
            <a:r>
              <a:rPr lang="zh-CN" altLang="en-US" dirty="0"/>
              <a:t>声速 </a:t>
            </a:r>
            <a:r>
              <a:rPr lang="en-US" altLang="zh-CN" dirty="0"/>
              <a:t>× </a:t>
            </a:r>
            <a:r>
              <a:rPr lang="zh-CN" altLang="en-US" dirty="0"/>
              <a:t>往返时间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3690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C4C01-3D55-66D9-1C3C-E3ACEDE43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979AB4-3329-B1B0-C5A6-6D0AA586E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935" y="1201295"/>
            <a:ext cx="7056065" cy="333509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2B2C38-0789-79C2-8E97-7419E374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超声波测距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99A8E3-F02E-96E5-338E-CC6BEFDA8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触发引脚配置成</a:t>
            </a:r>
            <a:r>
              <a:rPr lang="en-US" altLang="zh-CN" dirty="0"/>
              <a:t>GPIO</a:t>
            </a:r>
            <a:r>
              <a:rPr lang="zh-CN" altLang="en-US" dirty="0"/>
              <a:t>输出</a:t>
            </a:r>
            <a:r>
              <a:rPr lang="en-US" altLang="zh-CN" dirty="0"/>
              <a:t>10us</a:t>
            </a:r>
            <a:r>
              <a:rPr lang="zh-CN" altLang="en-US" dirty="0"/>
              <a:t>高电平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回响信号引脚配置为外部中断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24937D-5323-061A-6EEB-FFA5C37EC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00" y="3111923"/>
            <a:ext cx="2140060" cy="3238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0A35D9C-5756-0855-8712-E98E4CA35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00" y="3870000"/>
            <a:ext cx="4388076" cy="6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81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98555-DD04-DBC3-2C8D-745475AC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17D18-660F-A13A-55F6-AA426A34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源码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94782024-80B7-CB24-DFF0-E9264C177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5996" y="1059255"/>
            <a:ext cx="4896661" cy="579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7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052AD-A5B5-D348-F927-99E4705D7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MPU6050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EF5600-9CC3-491E-D9B1-7EF656B8F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MPU6050</a:t>
            </a:r>
            <a:r>
              <a:rPr lang="zh-CN" altLang="en-US" dirty="0"/>
              <a:t>是一个</a:t>
            </a:r>
            <a:r>
              <a:rPr lang="en-US" altLang="zh-CN" dirty="0"/>
              <a:t>6</a:t>
            </a:r>
            <a:r>
              <a:rPr lang="zh-CN" altLang="en-US" dirty="0"/>
              <a:t>轴姿态传感器，可以测量芯片自身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轴的加速度、角速度参数，通过数据融合，可进一步得到姿态角，常应用于平衡车、飞行器等需要检测自身姿态的场景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轴加速度计（</a:t>
            </a:r>
            <a:r>
              <a:rPr lang="en-US" altLang="zh-CN" dirty="0"/>
              <a:t>Accelerometer</a:t>
            </a:r>
            <a:r>
              <a:rPr lang="zh-CN" altLang="en-US" dirty="0"/>
              <a:t>）：测量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轴的加速度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轴陀螺仪传感器（</a:t>
            </a:r>
            <a:r>
              <a:rPr lang="en-US" altLang="zh-CN" dirty="0"/>
              <a:t>Gyroscope</a:t>
            </a:r>
            <a:r>
              <a:rPr lang="zh-CN" altLang="en-US" dirty="0"/>
              <a:t>）：测量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轴的角速度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YAW</a:t>
            </a:r>
            <a:r>
              <a:rPr lang="zh-CN" altLang="en-US" dirty="0"/>
              <a:t>，</a:t>
            </a:r>
            <a:r>
              <a:rPr lang="en-US" altLang="zh-CN" dirty="0"/>
              <a:t>PITCH</a:t>
            </a:r>
            <a:r>
              <a:rPr lang="zh-CN" altLang="en-US" dirty="0"/>
              <a:t>，</a:t>
            </a:r>
            <a:r>
              <a:rPr lang="en-US" altLang="zh-CN" dirty="0"/>
              <a:t>ROLL</a:t>
            </a:r>
          </a:p>
        </p:txBody>
      </p:sp>
    </p:spTree>
    <p:extLst>
      <p:ext uri="{BB962C8B-B14F-4D97-AF65-F5344CB8AC3E}">
        <p14:creationId xmlns:p14="http://schemas.microsoft.com/office/powerpoint/2010/main" val="1821814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DA59E-83D7-16E6-1129-865BD579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IIC</a:t>
            </a:r>
            <a:r>
              <a:rPr lang="zh-CN" altLang="en-US" dirty="0"/>
              <a:t>通信协议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ECC337-3F2C-DD41-A071-28AFCA5FA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400" y="986590"/>
            <a:ext cx="10969200" cy="326055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dirty="0"/>
              <a:t>I2C </a:t>
            </a:r>
            <a:r>
              <a:rPr lang="zh-CN" altLang="en-US" dirty="0"/>
              <a:t>通讯协议</a:t>
            </a:r>
            <a:r>
              <a:rPr lang="en-US" altLang="zh-CN" dirty="0"/>
              <a:t>(Inter</a:t>
            </a:r>
            <a:r>
              <a:rPr lang="zh-CN" altLang="en-US" dirty="0"/>
              <a:t>－</a:t>
            </a:r>
            <a:r>
              <a:rPr lang="en-US" altLang="zh-CN" dirty="0"/>
              <a:t>Integrated Circuit)</a:t>
            </a:r>
            <a:r>
              <a:rPr lang="zh-CN" altLang="en-US" dirty="0"/>
              <a:t>是由 </a:t>
            </a:r>
            <a:r>
              <a:rPr lang="en-US" altLang="zh-CN" dirty="0" err="1"/>
              <a:t>Phiilps</a:t>
            </a:r>
            <a:r>
              <a:rPr lang="en-US" altLang="zh-CN" dirty="0"/>
              <a:t> </a:t>
            </a:r>
            <a:r>
              <a:rPr lang="zh-CN" altLang="en-US" dirty="0"/>
              <a:t>公司开发的，由于它引脚少，硬件实现简单，可扩展性强，不需要 </a:t>
            </a:r>
            <a:r>
              <a:rPr lang="en-US" altLang="zh-CN" dirty="0"/>
              <a:t>USART</a:t>
            </a:r>
            <a:r>
              <a:rPr lang="zh-CN" altLang="en-US" dirty="0"/>
              <a:t>、</a:t>
            </a:r>
            <a:r>
              <a:rPr lang="en-US" altLang="zh-CN" dirty="0"/>
              <a:t>CAN </a:t>
            </a:r>
            <a:r>
              <a:rPr lang="zh-CN" altLang="en-US" dirty="0"/>
              <a:t>等通讯协议的外部收发设备（那些电平转化芯片），现在被广泛地使用在系统内多个集成电路</a:t>
            </a:r>
            <a:r>
              <a:rPr lang="en-US" altLang="zh-CN" dirty="0"/>
              <a:t>(IC)</a:t>
            </a:r>
            <a:r>
              <a:rPr lang="zh-CN" altLang="en-US" dirty="0"/>
              <a:t>间的通讯。</a:t>
            </a:r>
            <a:r>
              <a:rPr lang="en-US" altLang="zh-CN" dirty="0"/>
              <a:t>I2C</a:t>
            </a:r>
            <a:r>
              <a:rPr lang="zh-CN" altLang="en-US" dirty="0"/>
              <a:t>只有一跟数据总线 </a:t>
            </a:r>
            <a:r>
              <a:rPr lang="en-US" altLang="zh-CN" dirty="0"/>
              <a:t>SDA(Serial Data Line)</a:t>
            </a:r>
            <a:r>
              <a:rPr lang="zh-CN" altLang="en-US" dirty="0"/>
              <a:t>，串行数据总线，只能一位一位的发送数据，属于串行通信，采用半双工通信半双工通信：可以实现双向的通信，但不能在两个方向上同时进行，必须轮流交替进行，其实也可以理解成一种可以切换方向的单工通信，同一时刻必须只能一个方向传输，只需一根数据线</a:t>
            </a:r>
            <a:r>
              <a:rPr lang="en-US" altLang="zh-CN" dirty="0"/>
              <a:t>.</a:t>
            </a:r>
            <a:r>
              <a:rPr lang="zh-CN" altLang="en-US" dirty="0"/>
              <a:t>对于</a:t>
            </a:r>
            <a:r>
              <a:rPr lang="en-US" altLang="zh-CN" dirty="0"/>
              <a:t>I2C</a:t>
            </a:r>
            <a:r>
              <a:rPr lang="zh-CN" altLang="en-US" dirty="0"/>
              <a:t>通讯协议把它分为物理层和协议层物理层规定通讯系统中具有机械、电子功能部分的特性（硬件部分），确保原始数据在物理媒体的传输。协议层主要规定通讯逻辑，统一收发双方的数据打包、解包标准（软件层面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I2C </a:t>
            </a:r>
            <a:r>
              <a:rPr lang="zh-CN" altLang="en-US" dirty="0"/>
              <a:t>通讯设备之间的常用连接方式</a:t>
            </a:r>
            <a:endParaRPr lang="en-US" altLang="zh-CN" dirty="0"/>
          </a:p>
          <a:p>
            <a:pPr marL="457200" indent="-457200">
              <a:buAutoNum type="arabicParenBoth"/>
            </a:pPr>
            <a:r>
              <a:rPr lang="zh-CN" altLang="en-US" dirty="0"/>
              <a:t>它是一个支持设备的总线。“总线”指多个设备共用的信号线。在一个 </a:t>
            </a:r>
            <a:r>
              <a:rPr lang="en-US" altLang="zh-CN" dirty="0"/>
              <a:t>I2C </a:t>
            </a:r>
            <a:r>
              <a:rPr lang="zh-CN" altLang="en-US" dirty="0"/>
              <a:t>通讯总线中，可连接多个 </a:t>
            </a:r>
            <a:r>
              <a:rPr lang="en-US" altLang="zh-CN" dirty="0"/>
              <a:t>I2C </a:t>
            </a:r>
            <a:r>
              <a:rPr lang="zh-CN" altLang="en-US" dirty="0"/>
              <a:t>通讯设备，支持多个通讯主机及多个通讯从机。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(2) </a:t>
            </a:r>
            <a:r>
              <a:rPr lang="zh-CN" altLang="en-US" dirty="0"/>
              <a:t>一个 </a:t>
            </a:r>
            <a:r>
              <a:rPr lang="en-US" altLang="zh-CN" dirty="0"/>
              <a:t>I2C </a:t>
            </a:r>
            <a:r>
              <a:rPr lang="zh-CN" altLang="en-US" dirty="0"/>
              <a:t>总线只使用两条总线线路，一条双向串行数据线</a:t>
            </a:r>
            <a:r>
              <a:rPr lang="en-US" altLang="zh-CN" dirty="0"/>
              <a:t>SDA</a:t>
            </a:r>
            <a:r>
              <a:rPr lang="zh-CN" altLang="en-US" dirty="0"/>
              <a:t>（</a:t>
            </a:r>
            <a:r>
              <a:rPr lang="en-US" altLang="zh-CN" dirty="0"/>
              <a:t>Serial Data Line </a:t>
            </a:r>
            <a:r>
              <a:rPr lang="zh-CN" altLang="en-US" dirty="0"/>
              <a:t>），一条串行时钟线</a:t>
            </a:r>
            <a:r>
              <a:rPr lang="en-US" altLang="zh-CN" dirty="0"/>
              <a:t>SCL</a:t>
            </a:r>
            <a:r>
              <a:rPr lang="zh-CN" altLang="en-US" dirty="0"/>
              <a:t>（</a:t>
            </a:r>
            <a:r>
              <a:rPr lang="en-US" altLang="zh-CN" dirty="0"/>
              <a:t>Serial Data Line </a:t>
            </a:r>
            <a:r>
              <a:rPr lang="zh-CN" altLang="en-US" dirty="0"/>
              <a:t>）。数据线即用来表示数据，时钟线用于数据收发同步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(3) </a:t>
            </a:r>
            <a:r>
              <a:rPr lang="zh-CN" altLang="en-US" dirty="0"/>
              <a:t>总线通过上拉电阻接到电源。当 </a:t>
            </a:r>
            <a:r>
              <a:rPr lang="en-US" altLang="zh-CN" dirty="0"/>
              <a:t>I2C </a:t>
            </a:r>
            <a:r>
              <a:rPr lang="zh-CN" altLang="en-US" dirty="0"/>
              <a:t>设备空闲时会输出高阻态，而当所有设备都空闲，都输出高阻态时，由上拉电阻把总线拉成高电平。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56D935-CEB1-E069-8F4E-39BCB3A3D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00" y="3990975"/>
            <a:ext cx="78200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37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9021-904F-52C0-A372-123B5474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47AB4-6DA8-AB13-04D5-C8C33B99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硬件</a:t>
            </a:r>
            <a:r>
              <a:rPr lang="en-US" altLang="zh-CN" dirty="0"/>
              <a:t>IIC</a:t>
            </a:r>
            <a:r>
              <a:rPr lang="zh-CN" altLang="en-US" dirty="0"/>
              <a:t>和软件</a:t>
            </a:r>
            <a:r>
              <a:rPr lang="en-US" altLang="zh-CN" dirty="0"/>
              <a:t>IIC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CF4AFE-5AAF-7669-07AA-25E02409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400" y="986590"/>
            <a:ext cx="10969200" cy="57100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硬件</a:t>
            </a:r>
            <a:r>
              <a:rPr lang="en-US" altLang="zh-CN" dirty="0"/>
              <a:t>IIC</a:t>
            </a:r>
            <a:r>
              <a:rPr lang="zh-CN" altLang="en-US" dirty="0"/>
              <a:t>：芯片外设配置好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软件</a:t>
            </a:r>
            <a:r>
              <a:rPr lang="en-US" altLang="zh-CN" dirty="0"/>
              <a:t>IIC</a:t>
            </a:r>
            <a:r>
              <a:rPr lang="zh-CN" altLang="en-US" dirty="0"/>
              <a:t>：配置</a:t>
            </a:r>
            <a:r>
              <a:rPr lang="en-US" altLang="zh-CN" dirty="0"/>
              <a:t>GPIO</a:t>
            </a:r>
            <a:r>
              <a:rPr lang="zh-CN" altLang="en-US" dirty="0"/>
              <a:t>的高低电平转换，</a:t>
            </a:r>
            <a:r>
              <a:rPr lang="zh-CN" altLang="zh-CN" dirty="0"/>
              <a:t>生成起始信号时，需先将SCL引脚置为高电平，随后在SDA引脚上产生由高到低的跳变，最后拉低SCL电平。这一系列操作完全由程序控制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SCL</a:t>
            </a:r>
            <a:r>
              <a:rPr lang="zh-CN" altLang="en-US" dirty="0"/>
              <a:t>：串行时钟线（</a:t>
            </a:r>
            <a:r>
              <a:rPr lang="en-US" altLang="zh-CN" dirty="0"/>
              <a:t>when</a:t>
            </a:r>
            <a:r>
              <a:rPr lang="zh-CN" altLang="en-US" dirty="0"/>
              <a:t>）   </a:t>
            </a:r>
            <a:r>
              <a:rPr lang="en-US" altLang="zh-CN" dirty="0"/>
              <a:t>SDA</a:t>
            </a:r>
            <a:r>
              <a:rPr lang="zh-CN" altLang="en-US" dirty="0"/>
              <a:t>：串行数据线（</a:t>
            </a:r>
            <a:r>
              <a:rPr lang="en-US" altLang="zh-CN" dirty="0"/>
              <a:t>what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30421B7-06C3-71B8-7655-42069E877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922817"/>
              </p:ext>
            </p:extLst>
          </p:nvPr>
        </p:nvGraphicFramePr>
        <p:xfrm>
          <a:off x="541839" y="3841615"/>
          <a:ext cx="10969626" cy="10287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49966">
                  <a:extLst>
                    <a:ext uri="{9D8B030D-6E8A-4147-A177-3AD203B41FA5}">
                      <a16:colId xmlns:a16="http://schemas.microsoft.com/office/drawing/2014/main" val="1610484013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1555942788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759619639"/>
                    </a:ext>
                  </a:extLst>
                </a:gridCol>
                <a:gridCol w="2773220">
                  <a:extLst>
                    <a:ext uri="{9D8B030D-6E8A-4147-A177-3AD203B41FA5}">
                      <a16:colId xmlns:a16="http://schemas.microsoft.com/office/drawing/2014/main" val="4164566789"/>
                    </a:ext>
                  </a:extLst>
                </a:gridCol>
              </a:tblGrid>
              <a:tr h="34347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信号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SCL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SDA 动作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含义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67931102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起始（Start）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高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SDA 下降沿（高→低）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"我要开始通信了"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75158768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停止（Stop）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高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>
                          <a:effectLst/>
                        </a:rPr>
                        <a:t>SDA 上升沿（低→高）</a:t>
                      </a:r>
                      <a:endParaRPr lang="zh-CN" sz="1100" b="0" i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00" dirty="0">
                          <a:effectLst/>
                        </a:rPr>
                        <a:t>"通信结束"</a:t>
                      </a:r>
                      <a:endParaRPr lang="zh-CN" sz="1100" b="0" i="0" dirty="0">
                        <a:solidFill>
                          <a:srgbClr val="F9FAFB"/>
                        </a:solidFill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462452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740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935AC-337E-018B-093F-A083FBA3A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D1ED34-798A-18CD-0487-CCE97E24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995881"/>
            <a:ext cx="10969200" cy="586211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dirty="0"/>
              <a:t>#include "</a:t>
            </a:r>
            <a:r>
              <a:rPr lang="en-US" altLang="zh-CN" dirty="0" err="1"/>
              <a:t>IIC.h</a:t>
            </a:r>
            <a:r>
              <a:rPr lang="en-US" altLang="zh-CN" dirty="0"/>
              <a:t>"</a:t>
            </a:r>
          </a:p>
          <a:p>
            <a:pPr marL="0" indent="0">
              <a:buNone/>
            </a:pPr>
            <a:r>
              <a:rPr lang="en-US" altLang="zh-CN" dirty="0"/>
              <a:t>#include "</a:t>
            </a:r>
            <a:r>
              <a:rPr lang="en-US" altLang="zh-CN" dirty="0" err="1"/>
              <a:t>inv_mpu.h</a:t>
            </a:r>
            <a:r>
              <a:rPr lang="en-US" altLang="zh-CN" dirty="0"/>
              <a:t>"</a:t>
            </a:r>
          </a:p>
          <a:p>
            <a:pPr marL="0" indent="0">
              <a:buNone/>
            </a:pPr>
            <a:r>
              <a:rPr lang="en-US" altLang="zh-CN" dirty="0"/>
              <a:t>#include "</a:t>
            </a:r>
            <a:r>
              <a:rPr lang="en-US" altLang="zh-CN" dirty="0" err="1"/>
              <a:t>inv_mpu_dmp_motion_driver.h</a:t>
            </a:r>
            <a:r>
              <a:rPr lang="en-US" altLang="zh-CN" dirty="0"/>
              <a:t>"</a:t>
            </a:r>
          </a:p>
          <a:p>
            <a:pPr marL="0" indent="0">
              <a:buNone/>
            </a:pPr>
            <a:r>
              <a:rPr lang="en-US" altLang="zh-CN" dirty="0"/>
              <a:t>#include "mpu6050.h“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float </a:t>
            </a:r>
            <a:r>
              <a:rPr lang="en-US" altLang="zh-CN" dirty="0" err="1"/>
              <a:t>pitch,roll,yaw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MPU_Init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r>
              <a:rPr lang="en-US" altLang="zh-CN" dirty="0" err="1"/>
              <a:t>mpu_dmp_init</a:t>
            </a:r>
            <a:r>
              <a:rPr lang="en-US" altLang="zh-CN" dirty="0"/>
              <a:t>();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HAL_Delay</a:t>
            </a:r>
            <a:r>
              <a:rPr lang="en-US" altLang="zh-CN" dirty="0"/>
              <a:t>(10);</a:t>
            </a:r>
          </a:p>
          <a:p>
            <a:pPr marL="0" indent="0">
              <a:buNone/>
            </a:pPr>
            <a:r>
              <a:rPr lang="en-US" altLang="zh-CN" dirty="0" err="1"/>
              <a:t>mpu_dmp_get_data</a:t>
            </a:r>
            <a:r>
              <a:rPr lang="en-US" altLang="zh-CN" dirty="0"/>
              <a:t>(&amp;</a:t>
            </a:r>
            <a:r>
              <a:rPr lang="en-US" altLang="zh-CN" dirty="0" err="1"/>
              <a:t>pitch,&amp;roll,&amp;yaw</a:t>
            </a:r>
            <a:r>
              <a:rPr lang="en-US" altLang="zh-CN" dirty="0"/>
              <a:t>);</a:t>
            </a:r>
          </a:p>
          <a:p>
            <a:pPr marL="0" indent="0">
              <a:buNone/>
            </a:pPr>
            <a:r>
              <a:rPr lang="en-US" altLang="zh-CN" dirty="0" err="1"/>
              <a:t>sprintf</a:t>
            </a:r>
            <a:r>
              <a:rPr lang="en-US" altLang="zh-CN" dirty="0"/>
              <a:t>((char*)</a:t>
            </a:r>
            <a:r>
              <a:rPr lang="en-US" altLang="zh-CN" dirty="0" err="1"/>
              <a:t>display_buf</a:t>
            </a:r>
            <a:r>
              <a:rPr lang="en-US" altLang="zh-CN" dirty="0"/>
              <a:t>, "pitch:%.2f", pitch);</a:t>
            </a:r>
          </a:p>
          <a:p>
            <a:pPr marL="0" indent="0">
              <a:buNone/>
            </a:pPr>
            <a:r>
              <a:rPr lang="en-US" altLang="zh-CN" dirty="0" err="1"/>
              <a:t>OLED_ShowString</a:t>
            </a:r>
            <a:r>
              <a:rPr lang="en-US" altLang="zh-CN" dirty="0"/>
              <a:t> (0,2,display_buf, 16) ;</a:t>
            </a:r>
          </a:p>
          <a:p>
            <a:pPr marL="0" indent="0">
              <a:buNone/>
            </a:pPr>
            <a:r>
              <a:rPr lang="en-US" altLang="zh-CN" dirty="0" err="1"/>
              <a:t>sprintf</a:t>
            </a:r>
            <a:r>
              <a:rPr lang="en-US" altLang="zh-CN" dirty="0"/>
              <a:t>((char*)</a:t>
            </a:r>
            <a:r>
              <a:rPr lang="en-US" altLang="zh-CN" dirty="0" err="1"/>
              <a:t>display_buf</a:t>
            </a:r>
            <a:r>
              <a:rPr lang="en-US" altLang="zh-CN" dirty="0"/>
              <a:t>, "roll:%.2f", roll);</a:t>
            </a:r>
          </a:p>
          <a:p>
            <a:pPr marL="0" indent="0">
              <a:buNone/>
            </a:pPr>
            <a:r>
              <a:rPr lang="en-US" altLang="zh-CN" dirty="0" err="1"/>
              <a:t>OLED_ShowString</a:t>
            </a:r>
            <a:r>
              <a:rPr lang="en-US" altLang="zh-CN" dirty="0"/>
              <a:t> (0,4,display_buf, 16) ;</a:t>
            </a:r>
          </a:p>
          <a:p>
            <a:pPr marL="0" indent="0">
              <a:buNone/>
            </a:pPr>
            <a:r>
              <a:rPr lang="en-US" altLang="zh-CN" dirty="0" err="1"/>
              <a:t>sprintf</a:t>
            </a:r>
            <a:r>
              <a:rPr lang="en-US" altLang="zh-CN" dirty="0"/>
              <a:t>((char*)</a:t>
            </a:r>
            <a:r>
              <a:rPr lang="en-US" altLang="zh-CN" dirty="0" err="1"/>
              <a:t>display_buf</a:t>
            </a:r>
            <a:r>
              <a:rPr lang="en-US" altLang="zh-CN" dirty="0"/>
              <a:t>, "yaw:%.2f", yaw);</a:t>
            </a:r>
          </a:p>
          <a:p>
            <a:pPr marL="0" indent="0">
              <a:buNone/>
            </a:pPr>
            <a:r>
              <a:rPr lang="en-US" altLang="zh-CN" dirty="0" err="1"/>
              <a:t>OLED_ShowString</a:t>
            </a:r>
            <a:r>
              <a:rPr lang="en-US" altLang="zh-CN" dirty="0"/>
              <a:t> (0,6,display_buf, 16) 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333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AC077-F1EC-DD90-50CB-029B58E81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PWM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E4908A-D5A3-8CDF-5BCA-05DD7A177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491" y="983406"/>
            <a:ext cx="10969200" cy="424949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dirty="0"/>
              <a:t>PWM</a:t>
            </a:r>
            <a:r>
              <a:rPr lang="zh-CN" altLang="en-US" dirty="0"/>
              <a:t>（</a:t>
            </a:r>
            <a:r>
              <a:rPr lang="en-US" altLang="zh-CN" dirty="0"/>
              <a:t>Pulse Width Modulation</a:t>
            </a:r>
            <a:r>
              <a:rPr lang="zh-CN" altLang="en-US" dirty="0"/>
              <a:t>）脉冲宽度调制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在具有惯性的系统中，可以通过对一系列脉冲的宽度进行调制，来等效地获得所需要的模拟参量，常应用于电机控速等领域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频率</a:t>
            </a:r>
            <a:r>
              <a:rPr lang="en-US" altLang="zh-CN" dirty="0"/>
              <a:t>Freq= HCLK/(PCS+1)(ARR+1) = 1 / T</a:t>
            </a:r>
            <a:r>
              <a:rPr lang="en-US" altLang="zh-CN" baseline="-25000" dirty="0"/>
              <a:t>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dirty="0"/>
              <a:t>占空比</a:t>
            </a:r>
            <a:r>
              <a:rPr lang="en-US" altLang="zh-CN" dirty="0"/>
              <a:t>Duty= CCR / (ARR</a:t>
            </a:r>
            <a:r>
              <a:rPr lang="zh-CN" altLang="en-US" dirty="0"/>
              <a:t> </a:t>
            </a:r>
            <a:r>
              <a:rPr lang="en-US" altLang="zh-CN" dirty="0"/>
              <a:t>+ 1)= T</a:t>
            </a:r>
            <a:r>
              <a:rPr lang="en-US" altLang="zh-CN" baseline="-25000" dirty="0"/>
              <a:t>ON </a:t>
            </a:r>
            <a:r>
              <a:rPr lang="en-US" altLang="zh-CN" dirty="0"/>
              <a:t>/ T</a:t>
            </a:r>
            <a:r>
              <a:rPr lang="en-US" altLang="zh-CN" baseline="-25000" dirty="0"/>
              <a:t>S </a:t>
            </a:r>
            <a:endParaRPr lang="en-US" altLang="zh-CN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CN" baseline="-25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348B00-269E-E357-0444-613D1C71E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84" y="4356320"/>
            <a:ext cx="4974605" cy="25016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E9A81FE-D7A1-1081-E57E-69418B7409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6" r="17058" b="31270"/>
          <a:stretch/>
        </p:blipFill>
        <p:spPr>
          <a:xfrm>
            <a:off x="6595110" y="4194960"/>
            <a:ext cx="4581314" cy="25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7292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416A1-46BD-2703-5A30-BFAA76232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舵机驱动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0F434-A997-E3D1-AA19-CA9018DBD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2392"/>
            <a:ext cx="12192000" cy="591560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舵机是一种根据输入</a:t>
            </a:r>
            <a:r>
              <a:rPr lang="en-US" altLang="zh-CN" sz="1800" dirty="0"/>
              <a:t>PWM</a:t>
            </a:r>
            <a:r>
              <a:rPr lang="zh-CN" altLang="en-US" sz="1800" dirty="0"/>
              <a:t>信号占空比来控制输出角度的装置</a:t>
            </a:r>
            <a:endParaRPr lang="en-US" altLang="zh-CN" sz="1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输入</a:t>
            </a:r>
            <a:r>
              <a:rPr lang="en-US" altLang="zh-CN" sz="1800" dirty="0"/>
              <a:t>PWM</a:t>
            </a:r>
            <a:r>
              <a:rPr lang="zh-CN" altLang="en-US" sz="1800" dirty="0"/>
              <a:t>信号要求：周期为</a:t>
            </a:r>
            <a:r>
              <a:rPr lang="en-US" altLang="zh-CN" sz="1800" dirty="0"/>
              <a:t>20ms</a:t>
            </a:r>
            <a:r>
              <a:rPr lang="zh-CN" altLang="en-US" sz="1800" dirty="0"/>
              <a:t>，高电平宽度为</a:t>
            </a:r>
            <a:r>
              <a:rPr lang="en-US" altLang="zh-CN" sz="1800" dirty="0"/>
              <a:t>0.5ms~2.5ms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1800" dirty="0"/>
              <a:t>即</a:t>
            </a:r>
            <a:r>
              <a:rPr lang="en-US" altLang="zh-CN" sz="1800" dirty="0"/>
              <a:t>Freq= HCLK/(PCS+1)(ARR+1) =1 / T</a:t>
            </a:r>
            <a:r>
              <a:rPr lang="en-US" altLang="zh-CN" sz="1800" baseline="-25000" dirty="0"/>
              <a:t>S</a:t>
            </a:r>
            <a:r>
              <a:rPr lang="en-US" altLang="zh-CN" sz="1800" dirty="0"/>
              <a:t>=50Hz</a:t>
            </a:r>
          </a:p>
        </p:txBody>
      </p:sp>
      <p:pic>
        <p:nvPicPr>
          <p:cNvPr id="8" name="Picture 10" descr="https://img0.baidu.com/it/u=2669513282,929330867&amp;fm=253&amp;fmt=auto&amp;app=138&amp;f=JPEG?w=500&amp;h=500">
            <a:extLst>
              <a:ext uri="{FF2B5EF4-FFF2-40B4-BE49-F238E27FC236}">
                <a16:creationId xmlns:a16="http://schemas.microsoft.com/office/drawing/2014/main" id="{539A6F8D-5004-CACE-CF08-165648EA0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96" y="2532184"/>
            <a:ext cx="3383424" cy="338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2" descr="https://img1.baidu.com/it/u=3615405252,2060650159&amp;fm=253&amp;fmt=auto&amp;app=138&amp;f=JPEG?w=500&amp;h=667">
            <a:extLst>
              <a:ext uri="{FF2B5EF4-FFF2-40B4-BE49-F238E27FC236}">
                <a16:creationId xmlns:a16="http://schemas.microsoft.com/office/drawing/2014/main" id="{4D965CEA-4882-5D4F-A36C-212545110B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1" t="13711" r="3573" b="4814"/>
          <a:stretch/>
        </p:blipFill>
        <p:spPr bwMode="auto">
          <a:xfrm>
            <a:off x="4362956" y="2532184"/>
            <a:ext cx="2862549" cy="338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s://gimg2.baidu.com/image_search/src=http%3A%2F%2Fwww.chinabaike.com%2Fuploads%2Fallimg%2F110411%2F2330511418-1.jpg&amp;refer=http%3A%2F%2Fwww.chinabaike.com&amp;app=2002&amp;size=f9999,10000&amp;q=a80&amp;n=0&amp;g=0n&amp;fmt=jpeg?sec=1646831977&amp;t=d31e8ec4273de9da0a251316a9982c0b">
            <a:extLst>
              <a:ext uri="{FF2B5EF4-FFF2-40B4-BE49-F238E27FC236}">
                <a16:creationId xmlns:a16="http://schemas.microsoft.com/office/drawing/2014/main" id="{E5967805-B31B-1A10-C078-F0BA68BDD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" r="3964" b="8336"/>
          <a:stretch/>
        </p:blipFill>
        <p:spPr bwMode="auto">
          <a:xfrm>
            <a:off x="7882910" y="2532184"/>
            <a:ext cx="3383646" cy="338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0044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D8784-8C47-739F-D129-92A32DA6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DD4CD-D75A-39C3-E108-75F5DFDB2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打开定时器；打开内部时钟（</a:t>
            </a:r>
            <a:r>
              <a:rPr lang="zh-CN" altLang="zh-CN" dirty="0"/>
              <a:t>“内部时钟”就是用芯片自己的 72MHz 总线时钟给定时器计数。 PWM 要输出精确的 50Hz，必须用内部这个稳定的时钟源；外部时钟是给“计数外部脉冲”这类特殊场景用的。</a:t>
            </a:r>
            <a:r>
              <a:rPr lang="zh-CN" altLang="en-US" dirty="0"/>
              <a:t>）；选择一个通道；配置参数</a:t>
            </a:r>
            <a:r>
              <a:rPr lang="en-US" altLang="zh-CN" dirty="0"/>
              <a:t>PCS=71</a:t>
            </a:r>
            <a:r>
              <a:rPr lang="zh-CN" altLang="en-US" dirty="0"/>
              <a:t>，</a:t>
            </a:r>
            <a:r>
              <a:rPr lang="en-US" altLang="zh-CN" dirty="0"/>
              <a:t>ARR=19999</a:t>
            </a:r>
            <a:r>
              <a:rPr lang="zh-CN" altLang="en-US" dirty="0"/>
              <a:t>，计数模式向上计数，</a:t>
            </a:r>
            <a:r>
              <a:rPr lang="en-US" altLang="zh-CN" dirty="0"/>
              <a:t>Pulse=1500us</a:t>
            </a:r>
            <a:r>
              <a:rPr lang="zh-CN" altLang="en-US" dirty="0"/>
              <a:t>（高电平持续时间初始</a:t>
            </a:r>
            <a:r>
              <a:rPr lang="en-US" altLang="zh-CN" dirty="0"/>
              <a:t>1.5ms=</a:t>
            </a:r>
            <a:r>
              <a:rPr lang="zh-CN" altLang="en-US" dirty="0"/>
              <a:t>中位）</a:t>
            </a:r>
          </a:p>
        </p:txBody>
      </p:sp>
    </p:spTree>
    <p:extLst>
      <p:ext uri="{BB962C8B-B14F-4D97-AF65-F5344CB8AC3E}">
        <p14:creationId xmlns:p14="http://schemas.microsoft.com/office/powerpoint/2010/main" val="3750967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CB1A6CF-49A2-B9DE-1DED-E0F93A655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12913"/>
            <a:ext cx="8687246" cy="364508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6361312-A025-BFEF-8E16-9CD63A9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封装函数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7ABACA47-2B9D-4121-C1A5-FF110D49C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867428" y="971139"/>
            <a:ext cx="4324572" cy="31497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689DF01-4397-550D-6C98-BFC0009B9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85888"/>
            <a:ext cx="1689187" cy="90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01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03C13-DAEC-5520-CBCB-F71EE5489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TB6612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AFB6A-79ED-EA29-79A1-F823D9D2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200" y="1049400"/>
            <a:ext cx="12040800" cy="5808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TB6612</a:t>
            </a:r>
            <a:r>
              <a:rPr lang="zh-CN" altLang="en-US" sz="1800" dirty="0"/>
              <a:t>是一款双路</a:t>
            </a:r>
            <a:r>
              <a:rPr lang="en-US" altLang="zh-CN" sz="1800" dirty="0"/>
              <a:t>H</a:t>
            </a:r>
            <a:r>
              <a:rPr lang="zh-CN" altLang="en-US" sz="1800" dirty="0"/>
              <a:t>桥型的直流电机驱动芯片，可以驱动两个直流电机并且控制其转速和方向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如果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FAB0E2-17AB-654C-67A7-4F57A8DF4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72540" y="1590843"/>
            <a:ext cx="4942427" cy="49851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69A1006-311C-0B94-784A-E19AEA2D1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98791"/>
            <a:ext cx="4417648" cy="535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86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46F0A-D946-E349-F76D-2F0C3D714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源码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DE4C9FA-C8DE-9589-0D31-F6285C40A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6115" y="988999"/>
            <a:ext cx="4565885" cy="36260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7CC94DF-0104-0752-A6CB-CD3E0258E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8999"/>
            <a:ext cx="4940554" cy="57896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A6CAB00-3887-6DC5-0A7C-1DF16B646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7055" y="4615035"/>
            <a:ext cx="3054507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91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4F425C-F38E-8690-1CE6-C8387219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霍尔编码器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BF4D23-00D6-E6DE-A2C5-26D8FECE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/>
              <a:t>structuring element</a:t>
            </a:r>
            <a:r>
              <a:rPr lang="zh-CN" altLang="en-US" sz="1800" dirty="0"/>
              <a:t>：是形态学中用于进行形态学运算的一种预定义的、小型的形状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Miss:</a:t>
            </a:r>
            <a:r>
              <a:rPr lang="zh-CN" altLang="en-US" sz="1800" dirty="0"/>
              <a:t>如果图像中没有一个像素与结构元素匹配，则称为</a:t>
            </a:r>
            <a:r>
              <a:rPr lang="en-US" altLang="zh-CN" sz="1800" dirty="0"/>
              <a:t>Miss</a:t>
            </a:r>
            <a:r>
              <a:rPr lang="zh-CN" altLang="en-US" sz="1800" dirty="0"/>
              <a:t>。</a:t>
            </a:r>
          </a:p>
          <a:p>
            <a:pPr marL="0" indent="0">
              <a:buNone/>
            </a:pPr>
            <a:r>
              <a:rPr lang="en-US" altLang="zh-CN" sz="1800" dirty="0"/>
              <a:t>Hit:</a:t>
            </a:r>
            <a:r>
              <a:rPr lang="zh-CN" altLang="en-US" sz="1800" dirty="0"/>
              <a:t>当结构元素的至少一个像素与图像像素重叠时，称为</a:t>
            </a:r>
            <a:r>
              <a:rPr lang="en-US" altLang="zh-CN" sz="1800" dirty="0"/>
              <a:t>Hit</a:t>
            </a:r>
            <a:r>
              <a:rPr lang="zh-CN" altLang="en-US" sz="1800" dirty="0"/>
              <a:t>。</a:t>
            </a:r>
          </a:p>
          <a:p>
            <a:pPr marL="0" indent="0">
              <a:buNone/>
            </a:pPr>
            <a:r>
              <a:rPr lang="en-US" altLang="zh-CN" sz="1800" dirty="0"/>
              <a:t>Fit:</a:t>
            </a:r>
            <a:r>
              <a:rPr lang="zh-CN" altLang="en-US" sz="1800" dirty="0"/>
              <a:t>如果结构元素的所有像素都与图像匹配，则称为</a:t>
            </a:r>
            <a:r>
              <a:rPr lang="en-US" altLang="zh-CN" sz="1800" dirty="0"/>
              <a:t>Fit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447517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D2FF2-0B07-3C2C-C0C5-56B798FD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腐蚀，膨胀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C7D4C3-4EA3-C564-7B15-8BEE0CD4E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797" y="1124439"/>
            <a:ext cx="2885714" cy="53809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1D81FD-1F15-87BB-E82D-734A7B2B2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985" y="1257772"/>
            <a:ext cx="2819048" cy="5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0578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5D5DE-FDC9-0028-B91A-CE56F238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</a:t>
            </a:r>
            <a:r>
              <a:rPr lang="en-US" altLang="zh-CN" dirty="0"/>
              <a:t>/</a:t>
            </a:r>
            <a:r>
              <a:rPr lang="zh-CN" altLang="en-US" dirty="0"/>
              <a:t>闭运算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BAAA34-4714-A30D-34F8-3F25C87A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64" y="1330063"/>
            <a:ext cx="5104762" cy="50476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62044A-6D84-13E7-2293-73CC0C02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476" y="1368158"/>
            <a:ext cx="4790476" cy="50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37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C72CC-8DBD-4A27-E3F9-86748D72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腐蚀，膨胀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038B42-5183-3C6D-FAA9-044878DD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52283"/>
            <a:ext cx="5247619" cy="2685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06BCBC-6CC6-6E1A-5FE2-FB5337C77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55" y="1352283"/>
            <a:ext cx="5257143" cy="26571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648631-AF2A-1598-F672-8D8CC1719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51" y="4203982"/>
            <a:ext cx="9228571" cy="2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761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F8588-A574-F99A-8891-673982F79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</a:t>
            </a:r>
            <a:r>
              <a:rPr lang="en-US" altLang="zh-CN" dirty="0"/>
              <a:t>/</a:t>
            </a:r>
            <a:r>
              <a:rPr lang="zh-CN" altLang="en-US" dirty="0"/>
              <a:t>闭运算，礼帽</a:t>
            </a:r>
            <a:r>
              <a:rPr lang="en-US" altLang="zh-CN" dirty="0"/>
              <a:t>/</a:t>
            </a:r>
            <a:r>
              <a:rPr lang="zh-CN" altLang="en-US" dirty="0"/>
              <a:t>黑帽操作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ABF004-EEE2-6BA1-594A-B0C0BEA68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10" y="1177636"/>
            <a:ext cx="5991225" cy="2895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7B78D5-8B41-2BEC-4C6E-1924306BB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74" y="4230541"/>
            <a:ext cx="9219048" cy="22761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467051-69C5-942C-416F-77E1CDE85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628" y="1018399"/>
            <a:ext cx="5205008" cy="340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77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8D2D21-FB25-A08A-5DDA-A6427F4017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下节预告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900365-CD76-2A22-FF2B-668CF6B0D3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不咕</a:t>
            </a:r>
          </a:p>
        </p:txBody>
      </p:sp>
    </p:spTree>
    <p:extLst>
      <p:ext uri="{BB962C8B-B14F-4D97-AF65-F5344CB8AC3E}">
        <p14:creationId xmlns:p14="http://schemas.microsoft.com/office/powerpoint/2010/main" val="2523969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AD7E8-4BA9-56DE-48D8-925170FE8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拓展阅读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F60FD0-EB36-3404-8B69-ABF5C7223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sz="2400" dirty="0"/>
              <a:t>OpenCV</a:t>
            </a:r>
            <a:r>
              <a:rPr lang="zh-CN" altLang="en-US" sz="2400" dirty="0"/>
              <a:t>的内容是多到讲不完的，因此这里仅介绍基础概念，方便后续自学。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可能需要用到的还有：霍夫变换（直线、线段与圆检测，概率优化），模板匹配，查找轮廓</a:t>
            </a:r>
            <a:r>
              <a:rPr lang="en-US" altLang="zh-CN" dirty="0"/>
              <a:t>Canny</a:t>
            </a:r>
            <a:r>
              <a:rPr lang="zh-CN" altLang="en-US" dirty="0"/>
              <a:t>等等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这两节课的不额外布置作业，但要上手写代码，学会查阅各种资料，将课件里的东西复现。有处理不了的问题可以</a:t>
            </a:r>
            <a:r>
              <a:rPr lang="en-US" altLang="zh-CN" dirty="0"/>
              <a:t>QQ</a:t>
            </a:r>
            <a:r>
              <a:rPr lang="zh-CN" altLang="en-US" dirty="0"/>
              <a:t>找我。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最好的教程永远是官方文档，但可能有语言障碍。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OpenCV</a:t>
            </a:r>
            <a:r>
              <a:rPr lang="zh-CN" altLang="en-US" dirty="0"/>
              <a:t>在</a:t>
            </a:r>
            <a:r>
              <a:rPr lang="en-US" altLang="zh-CN" dirty="0"/>
              <a:t>ROS2</a:t>
            </a:r>
            <a:r>
              <a:rPr lang="zh-CN" altLang="en-US" dirty="0"/>
              <a:t>中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下节课会快速过一遍</a:t>
            </a:r>
            <a:r>
              <a:rPr lang="en-US" altLang="zh-CN" dirty="0"/>
              <a:t>ROS2</a:t>
            </a:r>
            <a:r>
              <a:rPr lang="zh-CN" altLang="en-US" dirty="0"/>
              <a:t>，以及的使用</a:t>
            </a:r>
          </a:p>
        </p:txBody>
      </p:sp>
    </p:spTree>
    <p:extLst>
      <p:ext uri="{BB962C8B-B14F-4D97-AF65-F5344CB8AC3E}">
        <p14:creationId xmlns:p14="http://schemas.microsoft.com/office/powerpoint/2010/main" val="34948056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1C016-8D2E-0C5F-116F-F81956F1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拓展阅读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649BB7-F015-54C8-DC6D-88971D69B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CN" dirty="0">
                <a:hlinkClick r:id="rId2"/>
              </a:rPr>
              <a:t>OpenCV: OpenCV Tutorials</a:t>
            </a:r>
            <a:endParaRPr lang="pt-BR" altLang="zh-CN" dirty="0"/>
          </a:p>
          <a:p>
            <a:endParaRPr lang="pt-BR" altLang="zh-CN" dirty="0"/>
          </a:p>
          <a:p>
            <a:r>
              <a:rPr lang="en-US" altLang="zh-CN" dirty="0">
                <a:hlinkClick r:id="rId3"/>
              </a:rPr>
              <a:t>Convolutional Neural Networks - Basics · Machine Learning Notebook</a:t>
            </a:r>
            <a:endParaRPr lang="pt-BR" altLang="zh-CN" dirty="0"/>
          </a:p>
          <a:p>
            <a:r>
              <a:rPr lang="en-US" altLang="zh-CN" dirty="0">
                <a:hlinkClick r:id="rId4"/>
              </a:rPr>
              <a:t>OpenCV-C++ </a:t>
            </a:r>
            <a:r>
              <a:rPr lang="zh-CN" altLang="en-US" dirty="0">
                <a:hlinkClick r:id="rId4"/>
              </a:rPr>
              <a:t>图像形态学操作 </a:t>
            </a:r>
            <a:r>
              <a:rPr lang="en-US" altLang="zh-CN" dirty="0">
                <a:hlinkClick r:id="rId4"/>
              </a:rPr>
              <a:t>- chenzhen0530 - </a:t>
            </a:r>
            <a:r>
              <a:rPr lang="zh-CN" altLang="en-US" dirty="0">
                <a:hlinkClick r:id="rId4"/>
              </a:rPr>
              <a:t>博客园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0641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682E9-3EBF-29E2-9CD2-6186D12F71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4EB747-D104-FE39-9A24-E85E81C255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071-</a:t>
            </a:r>
            <a:r>
              <a:rPr lang="zh-CN" altLang="en-US" dirty="0"/>
              <a:t>视觉组</a:t>
            </a:r>
          </a:p>
        </p:txBody>
      </p:sp>
    </p:spTree>
    <p:extLst>
      <p:ext uri="{BB962C8B-B14F-4D97-AF65-F5344CB8AC3E}">
        <p14:creationId xmlns:p14="http://schemas.microsoft.com/office/powerpoint/2010/main" val="17661793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ZkMTQ4NGU3ZjA5OTNmZjFiMTdlYjliN2IxZGQ2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6459</TotalTime>
  <Words>4363</Words>
  <Application>Microsoft Office PowerPoint</Application>
  <PresentationFormat>宽屏</PresentationFormat>
  <Paragraphs>251</Paragraphs>
  <Slides>44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2" baseType="lpstr">
      <vt:lpstr>quote-cjk-patch</vt:lpstr>
      <vt:lpstr>等线</vt:lpstr>
      <vt:lpstr>方正粗黑宋简体</vt:lpstr>
      <vt:lpstr>微软雅黑</vt:lpstr>
      <vt:lpstr>Arial</vt:lpstr>
      <vt:lpstr>Calibri</vt:lpstr>
      <vt:lpstr>Wingdings</vt:lpstr>
      <vt:lpstr>Office 主题​​</vt:lpstr>
      <vt:lpstr>071-电控组 单片机培训</vt:lpstr>
      <vt:lpstr>目录</vt:lpstr>
      <vt:lpstr>PowerPoint 演示文稿</vt:lpstr>
      <vt:lpstr>PowerPoint 演示文稿</vt:lpstr>
      <vt:lpstr>标准库与HAL库</vt:lpstr>
      <vt:lpstr>标准库与HAL库</vt:lpstr>
      <vt:lpstr>感谢创芯工坊的高性能烧录器</vt:lpstr>
      <vt:lpstr>标准库点灯</vt:lpstr>
      <vt:lpstr>标准库点灯</vt:lpstr>
      <vt:lpstr>HAL点灯</vt:lpstr>
      <vt:lpstr>简介</vt:lpstr>
      <vt:lpstr>STM32F103C8T6</vt:lpstr>
      <vt:lpstr>外设</vt:lpstr>
      <vt:lpstr>命名规则</vt:lpstr>
      <vt:lpstr>系统结构</vt:lpstr>
      <vt:lpstr>GPIO引脚配置</vt:lpstr>
      <vt:lpstr>例子</vt:lpstr>
      <vt:lpstr>CUBEMX使用</vt:lpstr>
      <vt:lpstr>OLED驱动</vt:lpstr>
      <vt:lpstr>EXTI外部中断</vt:lpstr>
      <vt:lpstr>预分频系数</vt:lpstr>
      <vt:lpstr>微秒级延时函数</vt:lpstr>
      <vt:lpstr>超声波测距</vt:lpstr>
      <vt:lpstr>超声波测距</vt:lpstr>
      <vt:lpstr>源码</vt:lpstr>
      <vt:lpstr>MPU6050</vt:lpstr>
      <vt:lpstr>IIC通信协议</vt:lpstr>
      <vt:lpstr>硬件IIC和软件IIC</vt:lpstr>
      <vt:lpstr>源码</vt:lpstr>
      <vt:lpstr>PWM</vt:lpstr>
      <vt:lpstr>舵机驱动</vt:lpstr>
      <vt:lpstr>配置</vt:lpstr>
      <vt:lpstr>封装函数</vt:lpstr>
      <vt:lpstr>TB6612</vt:lpstr>
      <vt:lpstr>源码</vt:lpstr>
      <vt:lpstr>霍尔编码器</vt:lpstr>
      <vt:lpstr>腐蚀，膨胀</vt:lpstr>
      <vt:lpstr>开/闭运算</vt:lpstr>
      <vt:lpstr>腐蚀，膨胀</vt:lpstr>
      <vt:lpstr>开/闭运算，礼帽/黑帽操作</vt:lpstr>
      <vt:lpstr>PowerPoint 演示文稿</vt:lpstr>
      <vt:lpstr>拓展阅读</vt:lpstr>
      <vt:lpstr>拓展阅读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BAIEJIDEMAO</dc:creator>
  <cp:lastModifiedBy>佳乐 夏</cp:lastModifiedBy>
  <cp:revision>207</cp:revision>
  <dcterms:created xsi:type="dcterms:W3CDTF">2019-06-19T02:08:00Z</dcterms:created>
  <dcterms:modified xsi:type="dcterms:W3CDTF">2026-10-14T13:21:05Z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7B206C3A2871434B983CF32EDAC06BCE</vt:lpwstr>
  </property>
</Properties>
</file>