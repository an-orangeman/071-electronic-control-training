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heme/theme2.xml" ContentType="application/vnd.openxmlformats-officedocument.theme+xml"/>
  <Override PartName="/ppt/tags/tag53.xml" ContentType="application/vnd.openxmlformats-officedocument.presentationml.tag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3"/>
  </p:notesMasterIdLst>
  <p:sldIdLst>
    <p:sldId id="257" r:id="rId2"/>
    <p:sldId id="309" r:id="rId3"/>
    <p:sldId id="366" r:id="rId4"/>
    <p:sldId id="367" r:id="rId5"/>
    <p:sldId id="368" r:id="rId6"/>
    <p:sldId id="369" r:id="rId7"/>
    <p:sldId id="402" r:id="rId8"/>
    <p:sldId id="397" r:id="rId9"/>
    <p:sldId id="398" r:id="rId10"/>
    <p:sldId id="399" r:id="rId11"/>
    <p:sldId id="400" r:id="rId12"/>
    <p:sldId id="401" r:id="rId13"/>
    <p:sldId id="370" r:id="rId14"/>
    <p:sldId id="371" r:id="rId15"/>
    <p:sldId id="372" r:id="rId16"/>
    <p:sldId id="373" r:id="rId17"/>
    <p:sldId id="403" r:id="rId18"/>
    <p:sldId id="404" r:id="rId19"/>
    <p:sldId id="405" r:id="rId20"/>
    <p:sldId id="374" r:id="rId21"/>
    <p:sldId id="376" r:id="rId22"/>
    <p:sldId id="407" r:id="rId23"/>
    <p:sldId id="377" r:id="rId24"/>
    <p:sldId id="375" r:id="rId25"/>
    <p:sldId id="408" r:id="rId26"/>
    <p:sldId id="378" r:id="rId27"/>
    <p:sldId id="383" r:id="rId28"/>
    <p:sldId id="379" r:id="rId29"/>
    <p:sldId id="381" r:id="rId30"/>
    <p:sldId id="382" r:id="rId31"/>
    <p:sldId id="380" r:id="rId32"/>
    <p:sldId id="388" r:id="rId33"/>
    <p:sldId id="390" r:id="rId34"/>
    <p:sldId id="391" r:id="rId35"/>
    <p:sldId id="392" r:id="rId36"/>
    <p:sldId id="393" r:id="rId37"/>
    <p:sldId id="394" r:id="rId38"/>
    <p:sldId id="396" r:id="rId39"/>
    <p:sldId id="395" r:id="rId40"/>
    <p:sldId id="389" r:id="rId41"/>
    <p:sldId id="338" r:id="rId42"/>
  </p:sldIdLst>
  <p:sldSz cx="12192000" cy="6858000"/>
  <p:notesSz cx="6858000" cy="9144000"/>
  <p:custDataLst>
    <p:tags r:id="rId44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Tjie" initials="T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4" autoAdjust="0"/>
    <p:restoredTop sz="96135" autoAdjust="0"/>
  </p:normalViewPr>
  <p:slideViewPr>
    <p:cSldViewPr snapToGrid="0" showGuides="1">
      <p:cViewPr varScale="1">
        <p:scale>
          <a:sx n="93" d="100"/>
          <a:sy n="93" d="100"/>
        </p:scale>
        <p:origin x="52" y="352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notesMaster" Target="notesMasters/notesMaster1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.png"/><Relationship Id="rId3" Type="http://schemas.openxmlformats.org/officeDocument/2006/relationships/tags" Target="../tags/tag10.xml"/><Relationship Id="rId7" Type="http://schemas.openxmlformats.org/officeDocument/2006/relationships/image" Target="../media/image2.jpeg"/><Relationship Id="rId2" Type="http://schemas.openxmlformats.org/officeDocument/2006/relationships/tags" Target="../tags/tag9.xml"/><Relationship Id="rId1" Type="http://schemas.openxmlformats.org/officeDocument/2006/relationships/tags" Target="../tags/tag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12.xml"/><Relationship Id="rId10" Type="http://schemas.openxmlformats.org/officeDocument/2006/relationships/image" Target="../media/image4.jpeg"/><Relationship Id="rId4" Type="http://schemas.openxmlformats.org/officeDocument/2006/relationships/tags" Target="../tags/tag11.xml"/><Relationship Id="rId9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jpeg"/><Relationship Id="rId3" Type="http://schemas.openxmlformats.org/officeDocument/2006/relationships/tags" Target="../tags/tag15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14.xml"/><Relationship Id="rId1" Type="http://schemas.openxmlformats.org/officeDocument/2006/relationships/tags" Target="../tags/tag13.xml"/><Relationship Id="rId6" Type="http://schemas.openxmlformats.org/officeDocument/2006/relationships/tags" Target="../tags/tag18.xml"/><Relationship Id="rId5" Type="http://schemas.openxmlformats.org/officeDocument/2006/relationships/tags" Target="../tags/tag17.xml"/><Relationship Id="rId4" Type="http://schemas.openxmlformats.org/officeDocument/2006/relationships/tags" Target="../tags/tag16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tags" Target="../tags/tag21.xml"/><Relationship Id="rId2" Type="http://schemas.openxmlformats.org/officeDocument/2006/relationships/tags" Target="../tags/tag20.xml"/><Relationship Id="rId1" Type="http://schemas.openxmlformats.org/officeDocument/2006/relationships/tags" Target="../tags/tag19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23.xml"/><Relationship Id="rId4" Type="http://schemas.openxmlformats.org/officeDocument/2006/relationships/tags" Target="../tags/tag22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tags" Target="../tags/tag26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25.xml"/><Relationship Id="rId1" Type="http://schemas.openxmlformats.org/officeDocument/2006/relationships/tags" Target="../tags/tag24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tags" Target="../tags/tag32.xml"/><Relationship Id="rId7" Type="http://schemas.openxmlformats.org/officeDocument/2006/relationships/slideMaster" Target="../slideMasters/slideMaster1.xml"/><Relationship Id="rId2" Type="http://schemas.openxmlformats.org/officeDocument/2006/relationships/tags" Target="../tags/tag31.xml"/><Relationship Id="rId1" Type="http://schemas.openxmlformats.org/officeDocument/2006/relationships/tags" Target="../tags/tag30.xml"/><Relationship Id="rId6" Type="http://schemas.openxmlformats.org/officeDocument/2006/relationships/tags" Target="../tags/tag35.xml"/><Relationship Id="rId5" Type="http://schemas.openxmlformats.org/officeDocument/2006/relationships/tags" Target="../tags/tag34.xml"/><Relationship Id="rId4" Type="http://schemas.openxmlformats.org/officeDocument/2006/relationships/tags" Target="../tags/tag33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tags" Target="../tags/tag36.xml"/><Relationship Id="rId5" Type="http://schemas.openxmlformats.org/officeDocument/2006/relationships/slideMaster" Target="../slideMasters/slideMaster1.xml"/><Relationship Id="rId4" Type="http://schemas.openxmlformats.org/officeDocument/2006/relationships/tags" Target="../tags/tag39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tags" Target="../tags/tag40.xml"/><Relationship Id="rId4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tags" Target="../tags/tag43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47.xml"/><Relationship Id="rId4" Type="http://schemas.openxmlformats.org/officeDocument/2006/relationships/tags" Target="../tags/tag46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Master" Target="../slideMasters/slideMaster1.xml"/><Relationship Id="rId5" Type="http://schemas.openxmlformats.org/officeDocument/2006/relationships/tags" Target="../tags/tag52.xml"/><Relationship Id="rId4" Type="http://schemas.openxmlformats.org/officeDocument/2006/relationships/tags" Target="../tags/tag5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7" cstate="screen"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4706620" y="0"/>
            <a:ext cx="4927600" cy="6858000"/>
          </a:xfrm>
          <a:custGeom>
            <a:avLst/>
            <a:gdLst>
              <a:gd name="connsiteX0" fmla="*/ 1231900 w 4927600"/>
              <a:gd name="connsiteY0" fmla="*/ 0 h 6858000"/>
              <a:gd name="connsiteX1" fmla="*/ 4927600 w 4927600"/>
              <a:gd name="connsiteY1" fmla="*/ 0 h 6858000"/>
              <a:gd name="connsiteX2" fmla="*/ 3695700 w 4927600"/>
              <a:gd name="connsiteY2" fmla="*/ 6858000 h 6858000"/>
              <a:gd name="connsiteX3" fmla="*/ 0 w 49276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27600" h="6858000">
                <a:moveTo>
                  <a:pt x="1231900" y="0"/>
                </a:moveTo>
                <a:lnTo>
                  <a:pt x="4927600" y="0"/>
                </a:lnTo>
                <a:lnTo>
                  <a:pt x="3695700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7" name="图片 6"/>
          <p:cNvPicPr>
            <a:picLocks noChangeAspect="1"/>
          </p:cNvPicPr>
          <p:nvPr userDrawn="1"/>
        </p:nvPicPr>
        <p:blipFill>
          <a:blip r:embed="rId7" cstate="screen"/>
          <a:srcRect/>
          <a:stretch>
            <a:fillRect/>
          </a:stretch>
        </p:blipFill>
        <p:spPr>
          <a:xfrm>
            <a:off x="7264400" y="255"/>
            <a:ext cx="4927600" cy="6858000"/>
          </a:xfrm>
          <a:custGeom>
            <a:avLst/>
            <a:gdLst>
              <a:gd name="connsiteX0" fmla="*/ 1231900 w 4927600"/>
              <a:gd name="connsiteY0" fmla="*/ 0 h 6858000"/>
              <a:gd name="connsiteX1" fmla="*/ 4927600 w 4927600"/>
              <a:gd name="connsiteY1" fmla="*/ 0 h 6858000"/>
              <a:gd name="connsiteX2" fmla="*/ 3695700 w 4927600"/>
              <a:gd name="connsiteY2" fmla="*/ 6858000 h 6858000"/>
              <a:gd name="connsiteX3" fmla="*/ 0 w 49276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27600" h="6858000">
                <a:moveTo>
                  <a:pt x="1231900" y="0"/>
                </a:moveTo>
                <a:lnTo>
                  <a:pt x="4927600" y="0"/>
                </a:lnTo>
                <a:lnTo>
                  <a:pt x="3695700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</p:pic>
      <p:pic>
        <p:nvPicPr>
          <p:cNvPr id="8" name="图片 7"/>
          <p:cNvPicPr>
            <a:picLocks noChangeAspect="1"/>
          </p:cNvPicPr>
          <p:nvPr userDrawn="1"/>
        </p:nvPicPr>
        <p:blipFill>
          <a:blip r:embed="rId7" cstate="screen">
            <a:duotone>
              <a:schemeClr val="accent2">
                <a:shade val="45000"/>
                <a:satMod val="135000"/>
              </a:schemeClr>
              <a:prstClr val="white"/>
            </a:duotone>
          </a:blip>
          <a:srcRect/>
          <a:stretch>
            <a:fillRect/>
          </a:stretch>
        </p:blipFill>
        <p:spPr>
          <a:xfrm>
            <a:off x="9832340" y="255"/>
            <a:ext cx="4927600" cy="6858000"/>
          </a:xfrm>
          <a:custGeom>
            <a:avLst/>
            <a:gdLst>
              <a:gd name="connsiteX0" fmla="*/ 1231900 w 4927600"/>
              <a:gd name="connsiteY0" fmla="*/ 0 h 6858000"/>
              <a:gd name="connsiteX1" fmla="*/ 4927600 w 4927600"/>
              <a:gd name="connsiteY1" fmla="*/ 0 h 6858000"/>
              <a:gd name="connsiteX2" fmla="*/ 3695700 w 4927600"/>
              <a:gd name="connsiteY2" fmla="*/ 6858000 h 6858000"/>
              <a:gd name="connsiteX3" fmla="*/ 0 w 4927600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4927600" h="6858000">
                <a:moveTo>
                  <a:pt x="1231900" y="0"/>
                </a:moveTo>
                <a:lnTo>
                  <a:pt x="4927600" y="0"/>
                </a:lnTo>
                <a:lnTo>
                  <a:pt x="3695700" y="6858000"/>
                </a:lnTo>
                <a:lnTo>
                  <a:pt x="0" y="6858000"/>
                </a:lnTo>
                <a:close/>
              </a:path>
            </a:pathLst>
          </a:custGeom>
          <a:effectLst>
            <a:outerShdw blurRad="50800" dist="762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en-US" altLang="zh-CN" dirty="0"/>
              <a:t>XX</a:t>
            </a:r>
            <a:r>
              <a:rPr lang="zh-CN" altLang="en-US" dirty="0"/>
              <a:t>组培训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2"/>
            </p:custDataLst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pic>
        <p:nvPicPr>
          <p:cNvPr id="9" name="图片 8" descr="C:/Users/HEJIAN/AppData/Local/Temp/picturecompress_20220207155922/output_1.jpgoutput_1"/>
          <p:cNvPicPr>
            <a:picLocks noChangeAspect="1"/>
          </p:cNvPicPr>
          <p:nvPr userDrawn="1"/>
        </p:nvPicPr>
        <p:blipFill>
          <a:blip r:embed="rId8"/>
          <a:stretch>
            <a:fillRect/>
          </a:stretch>
        </p:blipFill>
        <p:spPr>
          <a:xfrm>
            <a:off x="0" y="0"/>
            <a:ext cx="1026795" cy="1026795"/>
          </a:xfrm>
          <a:prstGeom prst="rect">
            <a:avLst/>
          </a:prstGeom>
        </p:spPr>
      </p:pic>
      <p:pic>
        <p:nvPicPr>
          <p:cNvPr id="10" name="图片 9" descr="部门图标"/>
          <p:cNvPicPr>
            <a:picLocks noChangeAspect="1"/>
          </p:cNvPicPr>
          <p:nvPr userDrawn="1"/>
        </p:nvPicPr>
        <p:blipFill>
          <a:blip r:embed="rId9"/>
          <a:stretch>
            <a:fillRect/>
          </a:stretch>
        </p:blipFill>
        <p:spPr>
          <a:xfrm>
            <a:off x="1026795" y="100330"/>
            <a:ext cx="842010" cy="825500"/>
          </a:xfrm>
          <a:prstGeom prst="rect">
            <a:avLst/>
          </a:prstGeom>
        </p:spPr>
      </p:pic>
      <p:pic>
        <p:nvPicPr>
          <p:cNvPr id="12" name="图片 11" descr="机创图标"/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1990725" y="50165"/>
            <a:ext cx="926465" cy="92646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</a:lstStyle>
          <a:p>
            <a:pPr lvl="0"/>
            <a:r>
              <a:rPr lang="en-US" altLang="zh-CN" dirty="0">
                <a:sym typeface="+mn-ea"/>
              </a:rPr>
              <a:t> </a:t>
            </a:r>
            <a:r>
              <a:rPr lang="zh-CN" dirty="0">
                <a:sym typeface="+mn-ea"/>
              </a:rPr>
              <a:t>目录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  <a:lvl2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2pPr>
            <a:lvl3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3pPr>
            <a:lvl4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4pPr>
            <a:lvl5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  <a:lvl2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2pPr>
            <a:lvl3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3pPr>
            <a:lvl4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4pPr>
            <a:lvl5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8" name="立方体 7"/>
          <p:cNvSpPr/>
          <p:nvPr userDrawn="1"/>
        </p:nvSpPr>
        <p:spPr>
          <a:xfrm>
            <a:off x="295910" y="791210"/>
            <a:ext cx="312420" cy="339725"/>
          </a:xfrm>
          <a:prstGeom prst="cub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pSp>
        <p:nvGrpSpPr>
          <p:cNvPr id="9" name="组合 8"/>
          <p:cNvGrpSpPr/>
          <p:nvPr userDrawn="1"/>
        </p:nvGrpSpPr>
        <p:grpSpPr>
          <a:xfrm>
            <a:off x="6461125" y="899160"/>
            <a:ext cx="5076825" cy="5313045"/>
            <a:chOff x="8280" y="575"/>
            <a:chExt cx="9600" cy="9505"/>
          </a:xfrm>
        </p:grpSpPr>
        <p:pic>
          <p:nvPicPr>
            <p:cNvPr id="10" name="图片 9"/>
            <p:cNvPicPr>
              <a:picLocks noChangeAspect="1"/>
            </p:cNvPicPr>
            <p:nvPr/>
          </p:nvPicPr>
          <p:blipFill rotWithShape="1">
            <a:blip r:embed="rId8"/>
            <a:srcRect l="50000" t="-323" b="323"/>
            <a:stretch>
              <a:fillRect/>
            </a:stretch>
          </p:blipFill>
          <p:spPr>
            <a:xfrm>
              <a:off x="8280" y="575"/>
              <a:ext cx="9600" cy="48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  <p:pic>
          <p:nvPicPr>
            <p:cNvPr id="11" name="图片 10"/>
            <p:cNvPicPr>
              <a:picLocks noChangeAspect="1"/>
            </p:cNvPicPr>
            <p:nvPr/>
          </p:nvPicPr>
          <p:blipFill rotWithShape="1">
            <a:blip r:embed="rId8"/>
            <a:srcRect r="50000"/>
            <a:stretch>
              <a:fillRect/>
            </a:stretch>
          </p:blipFill>
          <p:spPr>
            <a:xfrm>
              <a:off x="8280" y="5280"/>
              <a:ext cx="9600" cy="4800"/>
            </a:xfrm>
            <a:prstGeom prst="rect">
              <a:avLst/>
            </a:prstGeom>
            <a:ln>
              <a:noFill/>
            </a:ln>
            <a:effectLst>
              <a:outerShdw blurRad="292100" dist="139700" dir="2700000" algn="tl" rotWithShape="0">
                <a:srgbClr val="333333">
                  <a:alpha val="65000"/>
                </a:srgbClr>
              </a:outerShdw>
            </a:effectLst>
          </p:spPr>
        </p:pic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12210" y="16136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solidFill>
                  <a:schemeClr val="tx1"/>
                </a:solidFill>
                <a:latin typeface="方正粗黑宋简体" panose="02000000000000000000" charset="-122"/>
                <a:ea typeface="方正粗黑宋简体" panose="020000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2"/>
            </p:custDataLst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>
            <a:lvl1pPr>
              <a:defRPr sz="2400">
                <a:latin typeface="方正粗黑宋简体" panose="02000000000000000000" charset="-122"/>
                <a:ea typeface="方正粗黑宋简体" panose="02000000000000000000" charset="-122"/>
              </a:defRPr>
            </a:lvl1pPr>
            <a:lvl2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2pPr>
            <a:lvl3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3pPr>
            <a:lvl4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4pPr>
            <a:lvl5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7" name="立方体 6"/>
          <p:cNvSpPr/>
          <p:nvPr userDrawn="1"/>
        </p:nvSpPr>
        <p:spPr>
          <a:xfrm>
            <a:off x="295910" y="344170"/>
            <a:ext cx="312420" cy="339725"/>
          </a:xfrm>
          <a:prstGeom prst="cub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8" name="直接连接符 7"/>
          <p:cNvCxnSpPr/>
          <p:nvPr/>
        </p:nvCxnSpPr>
        <p:spPr>
          <a:xfrm>
            <a:off x="0" y="942340"/>
            <a:ext cx="12275820" cy="0"/>
          </a:xfrm>
          <a:prstGeom prst="line">
            <a:avLst/>
          </a:prstGeom>
          <a:ln w="47625" cmpd="sng">
            <a:solidFill>
              <a:schemeClr val="tx1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</a:lstStyle>
          <a:p>
            <a:pPr lvl="0"/>
            <a:r>
              <a:rPr dirty="0">
                <a:sym typeface="+mn-ea"/>
              </a:rPr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2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>
            <a:lvl1pPr>
              <a:defRPr sz="2400">
                <a:latin typeface="方正粗黑宋简体" panose="02000000000000000000" charset="-122"/>
                <a:ea typeface="方正粗黑宋简体" panose="02000000000000000000" charset="-122"/>
              </a:defRPr>
            </a:lvl1pPr>
            <a:lvl2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2pPr>
            <a:lvl3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3pPr>
            <a:lvl4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4pPr>
            <a:lvl5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5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  <a:p>
            <a:pPr lvl="1"/>
            <a:r>
              <a:rPr dirty="0">
                <a:sym typeface="+mn-ea"/>
              </a:rPr>
              <a:t>第二级</a:t>
            </a:r>
          </a:p>
          <a:p>
            <a:pPr lvl="2"/>
            <a:r>
              <a:rPr dirty="0">
                <a:sym typeface="+mn-ea"/>
              </a:rPr>
              <a:t>第三级</a:t>
            </a:r>
          </a:p>
          <a:p>
            <a:pPr lvl="3"/>
            <a:r>
              <a:rPr dirty="0">
                <a:sym typeface="+mn-ea"/>
              </a:rPr>
              <a:t>第四级</a:t>
            </a:r>
          </a:p>
          <a:p>
            <a:pPr lvl="4"/>
            <a:r>
              <a:rPr dirty="0">
                <a:sym typeface="+mn-ea"/>
              </a:rPr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3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>
            <a:lvl1pPr>
              <a:defRPr sz="2400">
                <a:latin typeface="方正粗黑宋简体" panose="02000000000000000000" charset="-122"/>
                <a:ea typeface="方正粗黑宋简体" panose="02000000000000000000" charset="-122"/>
              </a:defRPr>
            </a:lvl1pPr>
            <a:lvl2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2pPr>
            <a:lvl3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3pPr>
            <a:lvl4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4pPr>
            <a:lvl5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8" name="立方体 7"/>
          <p:cNvSpPr/>
          <p:nvPr userDrawn="1"/>
        </p:nvSpPr>
        <p:spPr>
          <a:xfrm>
            <a:off x="295910" y="791210"/>
            <a:ext cx="312420" cy="339725"/>
          </a:xfrm>
          <a:prstGeom prst="cub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1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dirty="0">
              <a:sym typeface="+mn-ea"/>
            </a:endParaRP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2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dirty="0">
                <a:sym typeface="+mn-ea"/>
              </a:rPr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2026/10/2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/>
        <p:txBody>
          <a:bodyPr/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2" name="立方体 1"/>
          <p:cNvSpPr/>
          <p:nvPr userDrawn="1"/>
        </p:nvSpPr>
        <p:spPr>
          <a:xfrm>
            <a:off x="295910" y="791210"/>
            <a:ext cx="312420" cy="339725"/>
          </a:xfrm>
          <a:prstGeom prst="cub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>
            <a:lvl1pPr>
              <a:defRPr>
                <a:latin typeface="方正粗黑宋简体" panose="02000000000000000000" charset="-122"/>
                <a:ea typeface="方正粗黑宋简体" panose="02000000000000000000" charset="-122"/>
              </a:defRPr>
            </a:lvl1pPr>
          </a:lstStyle>
          <a:p>
            <a:pPr lvl="0"/>
            <a:r>
              <a:rPr>
                <a:sym typeface="+mn-ea"/>
              </a:rPr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7" name="立方体 6"/>
          <p:cNvSpPr/>
          <p:nvPr userDrawn="1"/>
        </p:nvSpPr>
        <p:spPr>
          <a:xfrm>
            <a:off x="295910" y="791210"/>
            <a:ext cx="312420" cy="339725"/>
          </a:xfrm>
          <a:prstGeom prst="cube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1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2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3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  <p:sp>
        <p:nvSpPr>
          <p:cNvPr id="5" name="矩形: 圆角 6"/>
          <p:cNvSpPr/>
          <p:nvPr userDrawn="1"/>
        </p:nvSpPr>
        <p:spPr>
          <a:xfrm>
            <a:off x="-12700" y="6130630"/>
            <a:ext cx="12204700" cy="769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过渡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: 圆角 6"/>
          <p:cNvSpPr/>
          <p:nvPr/>
        </p:nvSpPr>
        <p:spPr>
          <a:xfrm>
            <a:off x="-12700" y="6130630"/>
            <a:ext cx="12204700" cy="769441"/>
          </a:xfrm>
          <a:prstGeom prst="roundRect">
            <a:avLst>
              <a:gd name="adj" fmla="val 0"/>
            </a:avLst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文本占位符 15"/>
          <p:cNvSpPr>
            <a:spLocks noGrp="1"/>
          </p:cNvSpPr>
          <p:nvPr>
            <p:ph type="body" sz="quarter" idx="11" hasCustomPrompt="1"/>
          </p:nvPr>
        </p:nvSpPr>
        <p:spPr>
          <a:xfrm>
            <a:off x="4455160" y="2327331"/>
            <a:ext cx="3098800" cy="708025"/>
          </a:xfrm>
        </p:spPr>
        <p:txBody>
          <a:bodyPr wrap="square">
            <a:sp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altLang="zh-CN" sz="4000" b="1" kern="1200" noProof="0">
                <a:solidFill>
                  <a:schemeClr val="tx1"/>
                </a:solidFill>
                <a:latin typeface="方正粗黑宋简体" panose="02000000000000000000" charset="-122"/>
                <a:ea typeface="方正粗黑宋简体" panose="02000000000000000000" charset="-122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4000" b="1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85000"/>
                    <a:lumOff val="15000"/>
                  </a:prstClr>
                </a:solidFill>
                <a:effectLst/>
                <a:uLnTx/>
                <a:uFillTx/>
                <a:latin typeface="微软雅黑" panose="020B0503020204020204" pitchFamily="34" charset="-122"/>
                <a:ea typeface="+mn-ea"/>
                <a:cs typeface="+mn-cs"/>
              </a:rPr>
              <a:t>工作业绩</a:t>
            </a:r>
            <a:endParaRPr kumimoji="0" lang="en-US" altLang="zh-CN" sz="4000" b="1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85000"/>
                  <a:lumOff val="15000"/>
                </a:prstClr>
              </a:solidFill>
              <a:effectLst/>
              <a:uLnTx/>
              <a:uFillTx/>
              <a:latin typeface="微软雅黑" panose="020B0503020204020204" pitchFamily="34" charset="-122"/>
              <a:ea typeface="+mn-ea"/>
              <a:cs typeface="+mn-cs"/>
            </a:endParaRPr>
          </a:p>
        </p:txBody>
      </p:sp>
      <p:sp>
        <p:nvSpPr>
          <p:cNvPr id="17" name="文本占位符 15"/>
          <p:cNvSpPr>
            <a:spLocks noGrp="1"/>
          </p:cNvSpPr>
          <p:nvPr>
            <p:ph type="body" sz="quarter" idx="12" hasCustomPrompt="1"/>
          </p:nvPr>
        </p:nvSpPr>
        <p:spPr>
          <a:xfrm>
            <a:off x="4455160" y="3035139"/>
            <a:ext cx="3098800" cy="400110"/>
          </a:xfrm>
        </p:spPr>
        <p:txBody>
          <a:bodyPr wrap="square">
            <a:spAutoFit/>
          </a:bodyPr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 lang="en-US" altLang="zh-CN" sz="2000" kern="1200" noProof="0">
                <a:solidFill>
                  <a:schemeClr val="bg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2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85000"/>
                  </a:prstClr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Please Add Text Here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1"/>
            </p:custDataLst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kumimoji="0" lang="zh-CN" altLang="en-US" sz="8000" b="0" i="1" u="none" strike="noStrike" kern="1200" cap="none" spc="0" normalizeH="0" baseline="0" noProof="1" dirty="0">
                <a:solidFill>
                  <a:schemeClr val="tx1"/>
                </a:solidFill>
                <a:latin typeface="方正粗黑宋简体" panose="02000000000000000000" charset="-122"/>
                <a:ea typeface="方正粗黑宋简体" panose="02000000000000000000" charset="-122"/>
                <a:cs typeface="+mj-cs"/>
              </a:defRPr>
            </a:lvl1pPr>
          </a:lstStyle>
          <a:p>
            <a:r>
              <a:rPr lang="zh-CN" altLang="en-US" dirty="0"/>
              <a:t>谢谢观看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  <p:custDataLst>
              <p:tags r:id="rId2"/>
            </p:custDataLst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b="1" i="1" spc="200">
                <a:solidFill>
                  <a:schemeClr val="tx1"/>
                </a:solidFill>
                <a:latin typeface="方正粗黑宋简体" panose="02000000000000000000" charset="-122"/>
                <a:ea typeface="方正粗黑宋简体" panose="02000000000000000000" charset="-122"/>
                <a:cs typeface="方正粗黑宋简体" panose="02000000000000000000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福建农林大学</a:t>
            </a:r>
            <a:r>
              <a:rPr lang="en-US" altLang="zh-CN" dirty="0"/>
              <a:t>———</a:t>
            </a:r>
            <a:r>
              <a:rPr lang="zh-CN" altLang="en-US" dirty="0"/>
              <a:t>云图创智</a:t>
            </a:r>
            <a:r>
              <a:rPr lang="en-US" altLang="zh-CN" dirty="0"/>
              <a:t>071</a:t>
            </a:r>
            <a:r>
              <a:rPr lang="zh-CN" altLang="en-US" dirty="0"/>
              <a:t>战队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zh-CN" altLang="en-US" dirty="0"/>
              <a:t>秣马厉兵</a:t>
            </a:r>
            <a:r>
              <a:rPr lang="en-US" altLang="zh-CN" dirty="0"/>
              <a:t>	</a:t>
            </a:r>
            <a:r>
              <a:rPr lang="zh-CN" altLang="en-US" dirty="0"/>
              <a:t>精益求精</a:t>
            </a:r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>
            <a:lvl1pPr>
              <a:defRPr b="1">
                <a:solidFill>
                  <a:schemeClr val="tx1"/>
                </a:solidFill>
              </a:defRPr>
            </a:lvl1pPr>
          </a:lstStyle>
          <a:p>
            <a:r>
              <a:rPr lang="zh-CN" altLang="en-US"/>
              <a:t>云图创智</a:t>
            </a:r>
            <a:r>
              <a:rPr lang="en-US" altLang="zh-CN"/>
              <a:t>071</a:t>
            </a:r>
            <a:endParaRPr lang="en-US" altLang="zh-CN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1"/>
            </p:custDataLst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dirty="0">
                <a:sym typeface="+mn-ea"/>
              </a:rPr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2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r>
              <a:rPr lang="zh-CN" altLang="en-US" dirty="0">
                <a:sym typeface="+mn-ea"/>
              </a:rPr>
              <a:t>秣马厉兵</a:t>
            </a:r>
            <a:r>
              <a:rPr lang="en-US" altLang="zh-CN" dirty="0">
                <a:sym typeface="+mn-ea"/>
              </a:rPr>
              <a:t>	</a:t>
            </a:r>
            <a:r>
              <a:rPr lang="zh-CN" altLang="en-US" dirty="0">
                <a:sym typeface="+mn-ea"/>
              </a:rPr>
              <a:t>精益求精</a:t>
            </a:r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r>
              <a:rPr lang="zh-CN" altLang="en-US">
                <a:sym typeface="+mn-ea"/>
              </a:rPr>
              <a:t>云图创智</a:t>
            </a:r>
            <a:r>
              <a:rPr lang="en-US" altLang="zh-CN">
                <a:sym typeface="+mn-ea"/>
              </a:rPr>
              <a:t>071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正文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直接连接符 7"/>
          <p:cNvCxnSpPr/>
          <p:nvPr/>
        </p:nvCxnSpPr>
        <p:spPr>
          <a:xfrm>
            <a:off x="0" y="926446"/>
            <a:ext cx="12192000" cy="0"/>
          </a:xfrm>
          <a:prstGeom prst="line">
            <a:avLst/>
          </a:prstGeom>
          <a:ln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/>
          <p:cNvSpPr/>
          <p:nvPr/>
        </p:nvSpPr>
        <p:spPr>
          <a:xfrm>
            <a:off x="0" y="238125"/>
            <a:ext cx="542925" cy="688321"/>
          </a:xfrm>
          <a:prstGeom prst="rect">
            <a:avLst/>
          </a:prstGeom>
          <a:solidFill>
            <a:srgbClr val="00ABB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2" name="图片 1" descr="PIE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54945" y="358140"/>
            <a:ext cx="1318895" cy="492125"/>
          </a:xfrm>
          <a:prstGeom prst="rect">
            <a:avLst/>
          </a:prstGeom>
        </p:spPr>
      </p:pic>
      <p:sp>
        <p:nvSpPr>
          <p:cNvPr id="12" name="AutoShape 3"/>
          <p:cNvSpPr>
            <a:spLocks noChangeAspect="1" noChangeArrowheads="1" noTextEdit="1"/>
          </p:cNvSpPr>
          <p:nvPr/>
        </p:nvSpPr>
        <p:spPr bwMode="auto">
          <a:xfrm>
            <a:off x="7086599" y="3244215"/>
            <a:ext cx="1807656" cy="149428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pic>
        <p:nvPicPr>
          <p:cNvPr id="6" name="图片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1374" y="5413441"/>
            <a:ext cx="1276616" cy="1053851"/>
          </a:xfrm>
          <a:prstGeom prst="rect">
            <a:avLst/>
          </a:prstGeom>
        </p:spPr>
      </p:pic>
      <p:sp>
        <p:nvSpPr>
          <p:cNvPr id="5" name="标题 4"/>
          <p:cNvSpPr>
            <a:spLocks noGrp="1"/>
          </p:cNvSpPr>
          <p:nvPr>
            <p:ph type="title"/>
          </p:nvPr>
        </p:nvSpPr>
        <p:spPr>
          <a:xfrm>
            <a:off x="642851" y="209030"/>
            <a:ext cx="9145385" cy="790344"/>
          </a:xfrm>
        </p:spPr>
        <p:txBody>
          <a:bodyPr>
            <a:normAutofit/>
          </a:bodyPr>
          <a:lstStyle>
            <a:lvl1pPr>
              <a:defRPr sz="4000">
                <a:solidFill>
                  <a:srgbClr val="00ACBF"/>
                </a:solidFill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11" name="日期占位符 10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8E9AFE3-1E6C-4850-BCB1-5A660FC5980F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13" name="页脚占位符 1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14" name="灯片编号占位符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1E4B86-D95E-428B-B381-8647FA92D890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16" name="内容占位符 15"/>
          <p:cNvSpPr>
            <a:spLocks noGrp="1"/>
          </p:cNvSpPr>
          <p:nvPr>
            <p:ph sz="quarter" idx="13"/>
          </p:nvPr>
        </p:nvSpPr>
        <p:spPr>
          <a:xfrm>
            <a:off x="731838" y="1346200"/>
            <a:ext cx="4724284" cy="4618038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8" name="内容占位符 17"/>
          <p:cNvSpPr>
            <a:spLocks noGrp="1"/>
          </p:cNvSpPr>
          <p:nvPr>
            <p:ph sz="quarter" idx="14"/>
          </p:nvPr>
        </p:nvSpPr>
        <p:spPr>
          <a:xfrm>
            <a:off x="5710458" y="1346200"/>
            <a:ext cx="4946430" cy="4618038"/>
          </a:xfrm>
        </p:spPr>
        <p:txBody>
          <a:bodyPr/>
          <a:lstStyle>
            <a:lvl1pPr>
              <a:lnSpc>
                <a:spcPct val="150000"/>
              </a:lnSpc>
              <a:defRPr/>
            </a:lvl1pPr>
            <a:lvl2pPr>
              <a:lnSpc>
                <a:spcPct val="150000"/>
              </a:lnSpc>
              <a:defRPr/>
            </a:lvl2pPr>
            <a:lvl3pPr>
              <a:lnSpc>
                <a:spcPct val="150000"/>
              </a:lnSpc>
              <a:defRPr/>
            </a:lvl3pPr>
            <a:lvl4pPr>
              <a:lnSpc>
                <a:spcPct val="150000"/>
              </a:lnSpc>
              <a:defRPr/>
            </a:lvl4pPr>
            <a:lvl5pPr>
              <a:lnSpc>
                <a:spcPct val="150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ags" Target="../tags/tag2.xml"/><Relationship Id="rId18" Type="http://schemas.openxmlformats.org/officeDocument/2006/relationships/tags" Target="../tags/tag7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17" Type="http://schemas.openxmlformats.org/officeDocument/2006/relationships/tags" Target="../tags/tag6.xml"/><Relationship Id="rId2" Type="http://schemas.openxmlformats.org/officeDocument/2006/relationships/slideLayout" Target="../slideLayouts/slideLayout2.xml"/><Relationship Id="rId16" Type="http://schemas.openxmlformats.org/officeDocument/2006/relationships/tags" Target="../tags/tag5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ags" Target="../tags/tag4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ags" Target="../tags/tag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="1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fld id="{760FBDFE-C587-4B4C-A407-44438C67B59E}" type="datetimeFigureOut">
              <a:rPr lang="zh-CN" altLang="en-US" smtClean="0"/>
              <a:t>2026/10/2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="1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 dirty="0"/>
              <a:t>秣马厉兵</a:t>
            </a:r>
            <a:r>
              <a:rPr lang="en-US" altLang="zh-CN" dirty="0"/>
              <a:t>	</a:t>
            </a:r>
            <a:r>
              <a:rPr lang="zh-CN" altLang="en-US" dirty="0"/>
              <a:t>精益求精</a:t>
            </a:r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="1" baseline="0">
                <a:solidFill>
                  <a:schemeClr val="tx1"/>
                </a:solidFill>
                <a:latin typeface="Arial" panose="020B0604020202020204" pitchFamily="34" charset="0"/>
                <a:ea typeface="微软雅黑" panose="020B0503020204020204" pitchFamily="34" charset="-122"/>
              </a:defRPr>
            </a:lvl1pPr>
          </a:lstStyle>
          <a:p>
            <a:r>
              <a:rPr lang="zh-CN" altLang="en-US"/>
              <a:t>云图创智</a:t>
            </a:r>
            <a:r>
              <a:rPr lang="en-US" altLang="zh-CN"/>
              <a:t>071</a:t>
            </a:r>
            <a:endParaRPr lang="en-US" altLang="zh-CN" dirty="0"/>
          </a:p>
        </p:txBody>
      </p:sp>
      <p:pic>
        <p:nvPicPr>
          <p:cNvPr id="7" name="图片 6" descr="C:/Users/HEJIAN/AppData/Local/Temp/picturecompress_20220207155922/output_1.jpgoutput_1"/>
          <p:cNvPicPr>
            <a:picLocks noChangeAspect="1"/>
          </p:cNvPicPr>
          <p:nvPr userDrawn="1"/>
        </p:nvPicPr>
        <p:blipFill>
          <a:blip r:embed="rId19"/>
          <a:stretch>
            <a:fillRect/>
          </a:stretch>
        </p:blipFill>
        <p:spPr>
          <a:xfrm>
            <a:off x="11165205" y="0"/>
            <a:ext cx="1026795" cy="1026795"/>
          </a:xfrm>
          <a:prstGeom prst="rect">
            <a:avLst/>
          </a:prstGeom>
        </p:spPr>
      </p:pic>
    </p:spTree>
    <p:custDataLst>
      <p:tags r:id="rId13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方正粗黑宋简体" panose="02000000000000000000" charset="-122"/>
          <a:ea typeface="方正粗黑宋简体" panose="02000000000000000000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1.xml"/><Relationship Id="rId1" Type="http://schemas.openxmlformats.org/officeDocument/2006/relationships/tags" Target="../tags/tag5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4.jpe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9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2.png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hyperlink" Target="https://mlnotebook.github.io/post/CNN1/" TargetMode="External"/><Relationship Id="rId2" Type="http://schemas.openxmlformats.org/officeDocument/2006/relationships/hyperlink" Target="https://docs.opencv.org/4.x/d9/df8/tutorial_root.html" TargetMode="External"/><Relationship Id="rId1" Type="http://schemas.openxmlformats.org/officeDocument/2006/relationships/slideLayout" Target="../slideLayouts/slideLayout3.xml"/><Relationship Id="rId4" Type="http://schemas.openxmlformats.org/officeDocument/2006/relationships/hyperlink" Target="https://www.cnblogs.com/chenzhen0530/p/14630229.html" TargetMode="Externa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518442" y="2585156"/>
            <a:ext cx="7768800" cy="1668451"/>
          </a:xfrm>
        </p:spPr>
        <p:txBody>
          <a:bodyPr>
            <a:normAutofit/>
          </a:bodyPr>
          <a:lstStyle/>
          <a:p>
            <a:r>
              <a:rPr lang="en-US" altLang="zh-CN" sz="5400" b="0" dirty="0"/>
              <a:t>071-</a:t>
            </a:r>
            <a:r>
              <a:rPr lang="zh-CN" altLang="en-US" sz="5400" b="0" dirty="0"/>
              <a:t>电控组</a:t>
            </a:r>
            <a:br>
              <a:rPr lang="en-US" altLang="zh-CN" dirty="0"/>
            </a:br>
            <a:r>
              <a:rPr lang="zh-CN" altLang="en-US" b="0" dirty="0"/>
              <a:t>第一次培训</a:t>
            </a: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5F109F77-71CF-D078-3DA6-091D121B8FB6}"/>
              </a:ext>
            </a:extLst>
          </p:cNvPr>
          <p:cNvSpPr txBox="1"/>
          <p:nvPr/>
        </p:nvSpPr>
        <p:spPr>
          <a:xfrm>
            <a:off x="518442" y="5484096"/>
            <a:ext cx="140294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err="1"/>
              <a:t>OrangeMan</a:t>
            </a:r>
            <a:endParaRPr lang="zh-CN" altLang="en-US" dirty="0"/>
          </a:p>
        </p:txBody>
      </p:sp>
    </p:spTree>
    <p:custDataLst>
      <p:tags r:id="rId1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E001FAD-626A-31DC-FE22-0B1FCE13D7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zh-CN" altLang="en-US" sz="4400" dirty="0"/>
              <a:t>目录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6FB9E46-CF40-EDA5-EC54-B3D4AE9489E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zh-CN" altLang="en-US" sz="2400" dirty="0"/>
              <a:t>标准库点灯</a:t>
            </a:r>
            <a:endParaRPr lang="en-US" altLang="zh-CN" sz="2400" dirty="0"/>
          </a:p>
          <a:p>
            <a:r>
              <a:rPr lang="en-US" altLang="zh-CN" sz="2400" dirty="0"/>
              <a:t>GPIO</a:t>
            </a:r>
            <a:r>
              <a:rPr lang="zh-CN" altLang="en-US" sz="2400" dirty="0"/>
              <a:t>引脚配置</a:t>
            </a:r>
            <a:endParaRPr lang="en-US" altLang="zh-CN" sz="2400" dirty="0"/>
          </a:p>
          <a:p>
            <a:r>
              <a:rPr lang="en-US" altLang="zh-CN" sz="2400" dirty="0"/>
              <a:t>OLED</a:t>
            </a:r>
            <a:r>
              <a:rPr lang="zh-CN" altLang="en-US" sz="2400" dirty="0"/>
              <a:t>屏幕显示</a:t>
            </a:r>
            <a:endParaRPr lang="en-US" altLang="zh-CN" sz="2400" dirty="0"/>
          </a:p>
          <a:p>
            <a:r>
              <a:rPr lang="zh-CN" altLang="en-US" sz="2400" dirty="0"/>
              <a:t>超声波模块测距</a:t>
            </a:r>
            <a:endParaRPr lang="en-US" altLang="zh-CN" sz="2200" dirty="0"/>
          </a:p>
        </p:txBody>
      </p:sp>
    </p:spTree>
    <p:extLst>
      <p:ext uri="{BB962C8B-B14F-4D97-AF65-F5344CB8AC3E}">
        <p14:creationId xmlns:p14="http://schemas.microsoft.com/office/powerpoint/2010/main" val="39119334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4E499-BCE9-79E5-3876-39DDECDB04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本占位符 1">
            <a:extLst>
              <a:ext uri="{FF2B5EF4-FFF2-40B4-BE49-F238E27FC236}">
                <a16:creationId xmlns:a16="http://schemas.microsoft.com/office/drawing/2014/main" id="{67B0145C-669A-8EA5-E4DF-9B667F22033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143706" y="2372329"/>
            <a:ext cx="3904587" cy="710067"/>
          </a:xfrm>
        </p:spPr>
        <p:txBody>
          <a:bodyPr/>
          <a:lstStyle/>
          <a:p>
            <a:r>
              <a:rPr lang="zh-CN" altLang="en-US" sz="4000" dirty="0"/>
              <a:t>标准库</a:t>
            </a:r>
            <a:endParaRPr lang="en-US" altLang="zh-CN" sz="4000" dirty="0"/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B55C3AD-0000-7BF0-4523-D6F500E803A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546599" y="3054050"/>
            <a:ext cx="3098800" cy="400110"/>
          </a:xfrm>
        </p:spPr>
        <p:txBody>
          <a:bodyPr/>
          <a:lstStyle/>
          <a:p>
            <a:r>
              <a:rPr lang="en-US" altLang="zh-CN" dirty="0"/>
              <a:t>Standard library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93161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D7C8A20D-502E-BC70-D43F-DFEB7E2C91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标准库与</a:t>
            </a:r>
            <a:r>
              <a:rPr lang="en-US" altLang="zh-CN" dirty="0"/>
              <a:t>HAL</a:t>
            </a:r>
            <a:r>
              <a:rPr lang="zh-CN" altLang="en-US" dirty="0"/>
              <a:t>库</a:t>
            </a:r>
          </a:p>
        </p:txBody>
      </p:sp>
      <p:sp>
        <p:nvSpPr>
          <p:cNvPr id="5" name="内容占位符 4">
            <a:extLst>
              <a:ext uri="{FF2B5EF4-FFF2-40B4-BE49-F238E27FC236}">
                <a16:creationId xmlns:a16="http://schemas.microsoft.com/office/drawing/2014/main" id="{C6E7C959-6F6B-D0A7-119E-0ED0B25969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zh-CN" dirty="0"/>
              <a:t>标准库和HAL库都是ST公司为STM32单片机提供的官方固件库，本质上是帮开发者屏蔽底层寄存器操作、用现成函数控制硬件的中间件。标准库更贴近底层，直接封装寄存器，控制精细、代码效率高，但不同芯片系列之间移植困难，且已停止更新；HAL库则抽象层次更高，提供统一的高级API，配合STM32CubeMX能快速生成代码，跨系列移植性强、开发效率高，但代码体积和执行效率略逊一筹。</a:t>
            </a:r>
            <a:r>
              <a:rPr lang="zh-CN" altLang="en-US" dirty="0"/>
              <a:t>总而言之</a:t>
            </a:r>
            <a:r>
              <a:rPr lang="zh-CN" altLang="zh-CN" dirty="0"/>
              <a:t>，</a:t>
            </a:r>
            <a:r>
              <a:rPr lang="zh-CN" altLang="en-US" dirty="0"/>
              <a:t>标准库可以作为学习使用，</a:t>
            </a:r>
            <a:r>
              <a:rPr lang="en-US" altLang="zh-CN" dirty="0"/>
              <a:t>HAL</a:t>
            </a:r>
            <a:r>
              <a:rPr lang="zh-CN" altLang="en-US" dirty="0"/>
              <a:t>库才是我们做项目的首选</a:t>
            </a:r>
            <a:r>
              <a:rPr lang="zh-CN" altLang="zh-CN" dirty="0"/>
              <a:t>。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22293916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3CDCB48-20E8-0847-12EC-E8E9FBDB4A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标准库点灯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38E5419-56EB-5741-DFAB-EF475C3A3DB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zh-CN" dirty="0"/>
              <a:t>RCC = Reset and Clock Control，复位与时钟控制</a:t>
            </a:r>
          </a:p>
          <a:p>
            <a:pPr lvl="0"/>
            <a:r>
              <a:rPr lang="zh-CN" altLang="zh-CN" dirty="0"/>
              <a:t>APB2 = 它是 STM32 的一条总线，GPIO 都挂在这条线上</a:t>
            </a:r>
          </a:p>
          <a:p>
            <a:pPr lvl="0"/>
            <a:r>
              <a:rPr lang="zh-CN" altLang="zh-CN" dirty="0"/>
              <a:t>Periph = Peripheral，外设</a:t>
            </a:r>
          </a:p>
          <a:p>
            <a:pPr lvl="0"/>
            <a:r>
              <a:rPr lang="zh-CN" altLang="zh-CN" dirty="0"/>
              <a:t>ClockCmd = 时钟命令</a:t>
            </a:r>
          </a:p>
          <a:p>
            <a:pPr marL="0" indent="0">
              <a:buNone/>
            </a:pPr>
            <a:endParaRPr lang="zh-CN" altLang="en-US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0805248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69136D-DEA5-BE38-0AAB-CD8C62874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标准库点灯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F504DF9-982D-87CB-BB91-8AA5CD8D44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66292"/>
            <a:ext cx="12192000" cy="5891708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altLang="zh-CN" sz="1800" dirty="0"/>
              <a:t>#include "stm32f10x.h"                  </a:t>
            </a:r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int main(void)</a:t>
            </a:r>
          </a:p>
          <a:p>
            <a:pPr marL="0" indent="0">
              <a:buNone/>
            </a:pPr>
            <a:r>
              <a:rPr lang="en-US" altLang="zh-CN" sz="1800" dirty="0"/>
              <a:t>{</a:t>
            </a:r>
          </a:p>
          <a:p>
            <a:pPr marL="0" indent="0">
              <a:buNone/>
            </a:pPr>
            <a:r>
              <a:rPr lang="en-US" altLang="zh-CN" sz="1800" dirty="0"/>
              <a:t>	RCC_APB2PeriphClockCmd(RCC_APB2Periph_GPIOC, ENABLE);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GPIO_InitTypeDef</a:t>
            </a:r>
            <a:r>
              <a:rPr lang="en-US" altLang="zh-CN" sz="1800" dirty="0"/>
              <a:t> </a:t>
            </a:r>
            <a:r>
              <a:rPr lang="en-US" altLang="zh-CN" sz="1800" dirty="0" err="1"/>
              <a:t>GPIO_InitStructure</a:t>
            </a:r>
            <a:r>
              <a:rPr lang="en-US" altLang="zh-CN" sz="1800" dirty="0"/>
              <a:t>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GPIO_InitStructure.GPIO_Mod</a:t>
            </a:r>
            <a:r>
              <a:rPr lang="en-US" altLang="zh-CN" sz="1800" u="sng" dirty="0" err="1"/>
              <a:t>e</a:t>
            </a:r>
            <a:r>
              <a:rPr lang="en-US" altLang="zh-CN" sz="1800" dirty="0"/>
              <a:t> = </a:t>
            </a:r>
            <a:r>
              <a:rPr lang="en-US" altLang="zh-CN" sz="1800" dirty="0" err="1"/>
              <a:t>GPIO_Mode_Out_PP</a:t>
            </a:r>
            <a:r>
              <a:rPr lang="en-US" altLang="zh-CN" sz="1800" dirty="0"/>
              <a:t>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GPIO_InitStructure.GPIO_Pin</a:t>
            </a:r>
            <a:r>
              <a:rPr lang="en-US" altLang="zh-CN" sz="1800" dirty="0"/>
              <a:t> = GPIO_Pin_13;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GPIO_InitStructure.GPIO_Speed</a:t>
            </a:r>
            <a:r>
              <a:rPr lang="en-US" altLang="zh-CN" sz="1800" dirty="0"/>
              <a:t> = GPIO_Speed_50MHz;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GPIO_Init</a:t>
            </a:r>
            <a:r>
              <a:rPr lang="en-US" altLang="zh-CN" sz="1800" dirty="0"/>
              <a:t>(GPIOC, &amp;</a:t>
            </a:r>
            <a:r>
              <a:rPr lang="en-US" altLang="zh-CN" sz="1800" dirty="0" err="1"/>
              <a:t>GPIO_InitStructure</a:t>
            </a:r>
            <a:r>
              <a:rPr lang="en-US" altLang="zh-CN" sz="1800" dirty="0"/>
              <a:t>);</a:t>
            </a:r>
          </a:p>
          <a:p>
            <a:pPr marL="0" indent="0">
              <a:buNone/>
            </a:pPr>
            <a:r>
              <a:rPr lang="en-US" altLang="zh-CN" sz="1800" dirty="0"/>
              <a:t>//	</a:t>
            </a:r>
            <a:r>
              <a:rPr lang="en-US" altLang="zh-CN" sz="1800" dirty="0" err="1"/>
              <a:t>GPIO_SetBits</a:t>
            </a:r>
            <a:r>
              <a:rPr lang="en-US" altLang="zh-CN" sz="1800" dirty="0"/>
              <a:t>(GPIOC, GPIO_Pin_13);</a:t>
            </a:r>
          </a:p>
          <a:p>
            <a:pPr marL="0" indent="0">
              <a:buNone/>
            </a:pPr>
            <a:r>
              <a:rPr lang="en-US" altLang="zh-CN" sz="1800" dirty="0"/>
              <a:t>	</a:t>
            </a:r>
            <a:r>
              <a:rPr lang="en-US" altLang="zh-CN" sz="1800" dirty="0" err="1"/>
              <a:t>GPIO_ResetBits</a:t>
            </a:r>
            <a:r>
              <a:rPr lang="en-US" altLang="zh-CN" sz="1800" dirty="0"/>
              <a:t>(GPIOC, GPIO_Pin_13);</a:t>
            </a:r>
          </a:p>
          <a:p>
            <a:pPr marL="0" indent="0">
              <a:buNone/>
            </a:pPr>
            <a:r>
              <a:rPr lang="en-US" altLang="zh-CN" sz="1800" dirty="0"/>
              <a:t>	while (1)</a:t>
            </a:r>
          </a:p>
          <a:p>
            <a:pPr marL="0" indent="0">
              <a:buNone/>
            </a:pPr>
            <a:r>
              <a:rPr lang="en-US" altLang="zh-CN" sz="1800" dirty="0"/>
              <a:t>	{</a:t>
            </a:r>
          </a:p>
          <a:p>
            <a:pPr marL="0" indent="0">
              <a:buNone/>
            </a:pPr>
            <a:r>
              <a:rPr lang="en-US" altLang="zh-CN" sz="1800" dirty="0"/>
              <a:t>		</a:t>
            </a:r>
          </a:p>
          <a:p>
            <a:pPr marL="0" indent="0">
              <a:buNone/>
            </a:pPr>
            <a:r>
              <a:rPr lang="en-US" altLang="zh-CN" sz="1800" dirty="0"/>
              <a:t>	}</a:t>
            </a:r>
          </a:p>
          <a:p>
            <a:pPr marL="0" indent="0">
              <a:buNone/>
            </a:pPr>
            <a:r>
              <a:rPr lang="en-US" altLang="zh-CN" sz="1800" dirty="0"/>
              <a:t>}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207055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FFE5A-BE99-6651-69A9-08A64E583C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C666501-C5B4-6C68-E1BC-B8F33FC46A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HAL</a:t>
            </a:r>
            <a:r>
              <a:rPr lang="zh-CN" altLang="en-US" dirty="0"/>
              <a:t>点灯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DD32A0F-0AA7-1B9C-BB68-1C5B4301DD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66292"/>
            <a:ext cx="12192000" cy="589170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dirty="0"/>
              <a:t>		</a:t>
            </a:r>
            <a:r>
              <a:rPr lang="en-US" altLang="zh-CN" sz="1800" dirty="0" err="1"/>
              <a:t>HAL_GPIO_WritePin</a:t>
            </a:r>
            <a:r>
              <a:rPr lang="en-US" altLang="zh-CN" sz="1800" dirty="0"/>
              <a:t> (GPIOC,GPIO_PIN_13,GPIO_PIN_RESET);</a:t>
            </a:r>
          </a:p>
          <a:p>
            <a:pPr marL="0" indent="0">
              <a:buNone/>
            </a:pPr>
            <a:r>
              <a:rPr lang="en-US" altLang="zh-CN" sz="1800" dirty="0"/>
              <a:t>		</a:t>
            </a:r>
            <a:r>
              <a:rPr lang="en-US" altLang="zh-CN" sz="1800" dirty="0" err="1"/>
              <a:t>HAL_Delay</a:t>
            </a:r>
            <a:r>
              <a:rPr lang="en-US" altLang="zh-CN" sz="1800" dirty="0"/>
              <a:t>(500);</a:t>
            </a:r>
          </a:p>
          <a:p>
            <a:pPr marL="0" indent="0">
              <a:buNone/>
            </a:pPr>
            <a:r>
              <a:rPr lang="en-US" altLang="zh-CN" sz="1800" dirty="0"/>
              <a:t>		</a:t>
            </a:r>
            <a:r>
              <a:rPr lang="en-US" altLang="zh-CN" sz="1800" dirty="0" err="1"/>
              <a:t>HAL_GPIO_WritePin</a:t>
            </a:r>
            <a:r>
              <a:rPr lang="en-US" altLang="zh-CN" sz="1800" dirty="0"/>
              <a:t> (GPIOC,GPIO_PIN_13,GPIO_PIN_SET);</a:t>
            </a:r>
          </a:p>
          <a:p>
            <a:pPr marL="0" indent="0">
              <a:buNone/>
            </a:pPr>
            <a:r>
              <a:rPr lang="en-US" altLang="zh-CN" sz="1800" dirty="0"/>
              <a:t>		</a:t>
            </a:r>
            <a:r>
              <a:rPr lang="en-US" altLang="zh-CN" sz="1800" dirty="0" err="1"/>
              <a:t>HAL_Delay</a:t>
            </a:r>
            <a:r>
              <a:rPr lang="en-US" altLang="zh-CN" sz="1800" dirty="0"/>
              <a:t>(500);</a:t>
            </a: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35417557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000974-DDCF-79F9-D2A3-A448253DD9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01F6AAF-7276-5319-A4AD-56A8DE1EE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简介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A794B25-C02D-BDC9-2559-F643767BA0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STM32</a:t>
            </a:r>
            <a:r>
              <a:rPr lang="zh-CN" altLang="en-US" dirty="0"/>
              <a:t>是</a:t>
            </a:r>
            <a:r>
              <a:rPr lang="en-US" altLang="zh-CN" dirty="0"/>
              <a:t>ST</a:t>
            </a:r>
            <a:r>
              <a:rPr lang="zh-CN" altLang="en-US" dirty="0"/>
              <a:t>公司基于</a:t>
            </a:r>
            <a:r>
              <a:rPr lang="en-US" altLang="zh-CN" dirty="0"/>
              <a:t>ARM Cortex-M</a:t>
            </a:r>
            <a:r>
              <a:rPr lang="zh-CN" altLang="en-US" dirty="0"/>
              <a:t>内核开发的</a:t>
            </a:r>
            <a:r>
              <a:rPr lang="en-US" altLang="zh-CN" dirty="0"/>
              <a:t>32</a:t>
            </a:r>
            <a:r>
              <a:rPr lang="zh-CN" altLang="en-US" dirty="0"/>
              <a:t>位微控制器</a:t>
            </a:r>
            <a:endParaRPr lang="en-US" altLang="zh-CN" dirty="0"/>
          </a:p>
          <a:p>
            <a:r>
              <a:rPr lang="en-US" altLang="zh-CN" dirty="0"/>
              <a:t>ARM</a:t>
            </a:r>
            <a:r>
              <a:rPr lang="zh-CN" altLang="en-US" dirty="0"/>
              <a:t>既指</a:t>
            </a:r>
            <a:r>
              <a:rPr lang="en-US" altLang="zh-CN" dirty="0"/>
              <a:t>ARM</a:t>
            </a:r>
            <a:r>
              <a:rPr lang="zh-CN" altLang="en-US" dirty="0"/>
              <a:t>公司，也指</a:t>
            </a:r>
            <a:r>
              <a:rPr lang="en-US" altLang="zh-CN" dirty="0"/>
              <a:t>ARM</a:t>
            </a:r>
            <a:r>
              <a:rPr lang="zh-CN" altLang="en-US" dirty="0"/>
              <a:t>处理器内核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116783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F8E4AC-DE44-4FAF-A7E6-847A7665F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13F63F-EE07-382D-3A8F-4ACE6C1DE9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zh-CN" dirty="0">
                <a:latin typeface="等线" panose="02010600030101010101" pitchFamily="2" charset="-122"/>
                <a:ea typeface="等线" panose="02010600030101010101" pitchFamily="2" charset="-122"/>
              </a:rPr>
              <a:t>STM32F103C8T6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B1720C6-BC56-1D7B-1B1C-572B7F02C8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系列：主流系列</a:t>
            </a:r>
            <a:r>
              <a:rPr lang="en-US" altLang="zh-CN" dirty="0"/>
              <a:t>STM32F1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内核：</a:t>
            </a:r>
            <a:r>
              <a:rPr lang="en-US" altLang="zh-CN" dirty="0"/>
              <a:t>ARM Cortex-M3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主频：</a:t>
            </a:r>
            <a:r>
              <a:rPr lang="en-US" altLang="zh-CN" dirty="0"/>
              <a:t>72MHz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RAM</a:t>
            </a:r>
            <a:r>
              <a:rPr lang="zh-CN" altLang="en-US" dirty="0"/>
              <a:t>：</a:t>
            </a:r>
            <a:r>
              <a:rPr lang="en-US" altLang="zh-CN" dirty="0"/>
              <a:t>20K</a:t>
            </a:r>
            <a:r>
              <a:rPr lang="zh-CN" altLang="en-US" dirty="0"/>
              <a:t>（</a:t>
            </a:r>
            <a:r>
              <a:rPr lang="en-US" altLang="zh-CN" dirty="0"/>
              <a:t>SRAM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ROM</a:t>
            </a:r>
            <a:r>
              <a:rPr lang="zh-CN" altLang="en-US" dirty="0"/>
              <a:t>：</a:t>
            </a:r>
            <a:r>
              <a:rPr lang="en-US" altLang="zh-CN" dirty="0"/>
              <a:t>64K</a:t>
            </a:r>
            <a:r>
              <a:rPr lang="zh-CN" altLang="en-US" dirty="0"/>
              <a:t>（</a:t>
            </a:r>
            <a:r>
              <a:rPr lang="en-US" altLang="zh-CN" dirty="0"/>
              <a:t>Flash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供电：</a:t>
            </a:r>
            <a:r>
              <a:rPr lang="en-US" altLang="zh-CN" dirty="0"/>
              <a:t>2.0~3.6V</a:t>
            </a:r>
            <a:r>
              <a:rPr lang="zh-CN" altLang="en-US" dirty="0"/>
              <a:t>（标准</a:t>
            </a:r>
            <a:r>
              <a:rPr lang="en-US" altLang="zh-CN" dirty="0"/>
              <a:t>3.3V</a:t>
            </a:r>
            <a:r>
              <a:rPr lang="zh-CN" altLang="en-US" dirty="0"/>
              <a:t>）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封装：</a:t>
            </a:r>
            <a:r>
              <a:rPr lang="en-US" altLang="zh-CN" dirty="0"/>
              <a:t>LQFP48</a:t>
            </a:r>
          </a:p>
          <a:p>
            <a:pPr marL="0" indent="0">
              <a:buNone/>
            </a:pP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491562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BF4AA-BE48-51D2-AD86-D69823E31A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B58B5EA-835E-F52E-B074-5A8C10D46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外设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46781D-A4B7-621C-DF43-4C2C532ECC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STM32</a:t>
            </a:r>
            <a:r>
              <a:rPr lang="zh-CN" altLang="en-US" dirty="0"/>
              <a:t>是</a:t>
            </a:r>
            <a:r>
              <a:rPr lang="en-US" altLang="zh-CN" dirty="0"/>
              <a:t>ST</a:t>
            </a:r>
            <a:r>
              <a:rPr lang="zh-CN" altLang="en-US" dirty="0"/>
              <a:t>公司基于</a:t>
            </a:r>
            <a:r>
              <a:rPr lang="en-US" altLang="zh-CN" dirty="0"/>
              <a:t>ARM Cortex-M</a:t>
            </a:r>
            <a:r>
              <a:rPr lang="zh-CN" altLang="en-US" dirty="0"/>
              <a:t>内核开发的</a:t>
            </a:r>
            <a:r>
              <a:rPr lang="en-US" altLang="zh-CN" dirty="0"/>
              <a:t>32</a:t>
            </a:r>
            <a:r>
              <a:rPr lang="zh-CN" altLang="en-US" dirty="0"/>
              <a:t>位微控制器</a:t>
            </a:r>
            <a:endParaRPr lang="en-US" altLang="zh-CN" dirty="0"/>
          </a:p>
          <a:p>
            <a:r>
              <a:rPr lang="en-US" altLang="zh-CN" dirty="0"/>
              <a:t>ARM</a:t>
            </a:r>
            <a:r>
              <a:rPr lang="zh-CN" altLang="en-US" dirty="0"/>
              <a:t>既指</a:t>
            </a:r>
            <a:r>
              <a:rPr lang="en-US" altLang="zh-CN" dirty="0"/>
              <a:t>ARM</a:t>
            </a:r>
            <a:r>
              <a:rPr lang="zh-CN" altLang="en-US" dirty="0"/>
              <a:t>公司，也指</a:t>
            </a:r>
            <a:r>
              <a:rPr lang="en-US" altLang="zh-CN" dirty="0"/>
              <a:t>ARM</a:t>
            </a:r>
            <a:r>
              <a:rPr lang="zh-CN" altLang="en-US" dirty="0"/>
              <a:t>处理器内核</a:t>
            </a:r>
            <a:endParaRPr lang="en-US" altLang="zh-CN" dirty="0"/>
          </a:p>
          <a:p>
            <a:endParaRPr lang="zh-CN" altLang="en-US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B0B09676-AD51-E632-4BD1-374340EF129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400" y="1063155"/>
            <a:ext cx="10344682" cy="56136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6819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BB160-DD80-85B4-157D-91BEF79615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3C55D3-2FF6-CFC4-0B40-473B0371A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命名规则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132BB564-7858-C46C-4717-14FB97F587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67441" y="1291487"/>
            <a:ext cx="4745707" cy="55152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819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113618-9858-6B58-91C6-566E38DC89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9F27D4-E175-8597-21E1-05396CE8F3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系统结构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14D3C9B0-6AA6-AE7B-4BEC-88B6ECDF3C6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26742" y="987643"/>
            <a:ext cx="7541536" cy="5772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909261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A9354C3-35DA-AA79-4726-51B14FA5C6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GPIO</a:t>
            </a:r>
            <a:r>
              <a:rPr lang="zh-CN" altLang="en-US" dirty="0"/>
              <a:t>引脚配置</a:t>
            </a:r>
          </a:p>
        </p:txBody>
      </p:sp>
      <p:graphicFrame>
        <p:nvGraphicFramePr>
          <p:cNvPr id="4" name="内容占位符 3">
            <a:extLst>
              <a:ext uri="{FF2B5EF4-FFF2-40B4-BE49-F238E27FC236}">
                <a16:creationId xmlns:a16="http://schemas.microsoft.com/office/drawing/2014/main" id="{80247905-0E7D-55BE-2A43-70F80EC7A39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93660570"/>
              </p:ext>
            </p:extLst>
          </p:nvPr>
        </p:nvGraphicFramePr>
        <p:xfrm>
          <a:off x="611187" y="1717189"/>
          <a:ext cx="10969626" cy="1941259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9966">
                  <a:extLst>
                    <a:ext uri="{9D8B030D-6E8A-4147-A177-3AD203B41FA5}">
                      <a16:colId xmlns:a16="http://schemas.microsoft.com/office/drawing/2014/main" val="713807461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4272969040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1617152724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3068465347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模式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标准库宏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特点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典型用途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extLst>
                  <a:ext uri="{0D108BD9-81ED-4DB2-BD59-A6C34878D82A}">
                    <a16:rowId xmlns:a16="http://schemas.microsoft.com/office/drawing/2014/main" val="2961457528"/>
                  </a:ext>
                </a:extLst>
              </a:tr>
              <a:tr h="411761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浮空输入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 dirty="0">
                          <a:effectLst/>
                        </a:rPr>
                        <a:t>GPIO_Mode_IN_FLOATING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引脚悬空，电平完全由外部决定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外部已有上下拉电阻的信号输入、USART_RX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252498945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上拉输入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>
                          <a:effectLst/>
                        </a:rPr>
                        <a:t>GPIO_Mode_IPU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内部接上拉电阻，默认高电平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按键（按下接 GND）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38829532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下拉输入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>
                          <a:effectLst/>
                        </a:rPr>
                        <a:t>GPIO_Mode_IPD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内部接下拉电阻，默认低电平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按键（按下接 VCC）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326136797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模拟输入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>
                          <a:effectLst/>
                        </a:rPr>
                        <a:t>GPIO_Mode_AIN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关闭数字电路，信号直通 ADC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ADC 采集、低功耗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1850941086"/>
                  </a:ext>
                </a:extLst>
              </a:tr>
            </a:tbl>
          </a:graphicData>
        </a:graphic>
      </p:graphicFrame>
      <p:graphicFrame>
        <p:nvGraphicFramePr>
          <p:cNvPr id="6" name="表格 5">
            <a:extLst>
              <a:ext uri="{FF2B5EF4-FFF2-40B4-BE49-F238E27FC236}">
                <a16:creationId xmlns:a16="http://schemas.microsoft.com/office/drawing/2014/main" id="{18403F27-6C32-1DEC-A597-6C940C31D9C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1417855"/>
              </p:ext>
            </p:extLst>
          </p:nvPr>
        </p:nvGraphicFramePr>
        <p:xfrm>
          <a:off x="611187" y="4254035"/>
          <a:ext cx="10969626" cy="171323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9966">
                  <a:extLst>
                    <a:ext uri="{9D8B030D-6E8A-4147-A177-3AD203B41FA5}">
                      <a16:colId xmlns:a16="http://schemas.microsoft.com/office/drawing/2014/main" val="957422935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3785866344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1844339559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3656341045"/>
                    </a:ext>
                  </a:extLst>
                </a:gridCol>
              </a:tblGrid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模式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标准库宏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特点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典型用途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extLst>
                  <a:ext uri="{0D108BD9-81ED-4DB2-BD59-A6C34878D82A}">
                    <a16:rowId xmlns:a16="http://schemas.microsoft.com/office/drawing/2014/main" val="273752396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推挽输出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>
                          <a:effectLst/>
                        </a:rPr>
                        <a:t>GPIO_Mode_Out_PP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强驱动高低电平，不能线与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LED、继电器、普通数字输出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2423945291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开漏输出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 dirty="0">
                          <a:effectLst/>
                        </a:rPr>
                        <a:t>GPIO_Mode_Out_OD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只能拉低，高电平靠外部上拉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I2C、电平转换、线与总线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3574652540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复用推挽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 dirty="0">
                          <a:effectLst/>
                        </a:rPr>
                        <a:t>GPIO_Mode_AF_PP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推挽，但控制权交给外设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USART_TX、SPI_SCK、PWM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1269352718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复用开漏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000">
                          <a:effectLst/>
                        </a:rPr>
                        <a:t>GPIO_Mode_AF_OD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开漏，控制权交给外设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I2C 的 SCL/SDA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1593433413"/>
                  </a:ext>
                </a:extLst>
              </a:tr>
            </a:tbl>
          </a:graphicData>
        </a:graphic>
      </p:graphicFrame>
      <p:sp>
        <p:nvSpPr>
          <p:cNvPr id="9" name="文本框 8">
            <a:extLst>
              <a:ext uri="{FF2B5EF4-FFF2-40B4-BE49-F238E27FC236}">
                <a16:creationId xmlns:a16="http://schemas.microsoft.com/office/drawing/2014/main" id="{453598F7-DA89-CCD2-6ACC-59E4C5ADD6F1}"/>
              </a:ext>
            </a:extLst>
          </p:cNvPr>
          <p:cNvSpPr txBox="1"/>
          <p:nvPr/>
        </p:nvSpPr>
        <p:spPr>
          <a:xfrm>
            <a:off x="611187" y="1240285"/>
            <a:ext cx="1096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输入模式</a:t>
            </a: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BFAA1054-529F-89A1-85FA-194D30D7E861}"/>
              </a:ext>
            </a:extLst>
          </p:cNvPr>
          <p:cNvSpPr txBox="1"/>
          <p:nvPr/>
        </p:nvSpPr>
        <p:spPr>
          <a:xfrm>
            <a:off x="611187" y="3777131"/>
            <a:ext cx="1096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输出模式</a:t>
            </a: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0AE88B6F-4503-B762-047A-DD1A13D901A8}"/>
              </a:ext>
            </a:extLst>
          </p:cNvPr>
          <p:cNvSpPr txBox="1"/>
          <p:nvPr/>
        </p:nvSpPr>
        <p:spPr>
          <a:xfrm>
            <a:off x="611187" y="6193520"/>
            <a:ext cx="1096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zh-CN" dirty="0"/>
              <a:t>注意：</a:t>
            </a:r>
            <a:r>
              <a:rPr lang="zh-CN" altLang="zh-CN" b="1" dirty="0"/>
              <a:t>只有输出模式才需要设置 </a:t>
            </a:r>
            <a:r>
              <a:rPr lang="zh-CN" altLang="zh-CN" dirty="0"/>
              <a:t>GPIO_Speed，输入模式下这个参数被忽略。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6790281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EB801CF8-AD68-DE28-480F-CE2FAB6FD0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例子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76099765-E49B-67A3-B0EC-8D53A41D8C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61439" y="950615"/>
            <a:ext cx="6478676" cy="5907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42418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A5AAF7D-31A8-0777-C4DB-F3228D2428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CUBEMX</a:t>
            </a:r>
            <a:r>
              <a:rPr lang="zh-CN" altLang="en-US" dirty="0"/>
              <a:t>使用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771DEE-B3F0-BBEA-25A3-F4C09AD38A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RCC</a:t>
            </a:r>
            <a:r>
              <a:rPr lang="zh-CN" altLang="en-US" dirty="0"/>
              <a:t>：开</a:t>
            </a:r>
            <a:r>
              <a:rPr lang="en-US" altLang="zh-CN" dirty="0"/>
              <a:t>HSE</a:t>
            </a:r>
            <a:r>
              <a:rPr lang="zh-CN" altLang="en-US" dirty="0"/>
              <a:t>（高速外部时钟）</a:t>
            </a:r>
            <a:endParaRPr lang="en-US" altLang="zh-CN" dirty="0"/>
          </a:p>
          <a:p>
            <a:r>
              <a:rPr lang="en-US" altLang="zh-CN" dirty="0"/>
              <a:t>SYS</a:t>
            </a:r>
            <a:r>
              <a:rPr lang="zh-CN" altLang="en-US" dirty="0"/>
              <a:t>：</a:t>
            </a:r>
            <a:r>
              <a:rPr lang="en-US" altLang="zh-CN" dirty="0"/>
              <a:t>Debug</a:t>
            </a:r>
            <a:r>
              <a:rPr lang="zh-CN" altLang="en-US" dirty="0"/>
              <a:t>选</a:t>
            </a:r>
            <a:r>
              <a:rPr lang="en-US" altLang="zh-CN" dirty="0"/>
              <a:t>SW</a:t>
            </a:r>
            <a:r>
              <a:rPr lang="zh-CN" altLang="en-US" dirty="0"/>
              <a:t>（</a:t>
            </a:r>
            <a:r>
              <a:rPr lang="en-US" altLang="zh-CN" dirty="0" err="1"/>
              <a:t>swd</a:t>
            </a:r>
            <a:r>
              <a:rPr lang="zh-CN" altLang="en-US" dirty="0"/>
              <a:t>调试接口）</a:t>
            </a:r>
            <a:endParaRPr lang="en-US" altLang="zh-CN" dirty="0"/>
          </a:p>
          <a:p>
            <a:r>
              <a:rPr lang="en-US" altLang="zh-CN" dirty="0"/>
              <a:t>Clock Configuration</a:t>
            </a:r>
            <a:r>
              <a:rPr lang="zh-CN" altLang="en-US" dirty="0"/>
              <a:t>：选中</a:t>
            </a:r>
            <a:r>
              <a:rPr lang="en-US" altLang="zh-CN" dirty="0"/>
              <a:t>HSE</a:t>
            </a:r>
            <a:r>
              <a:rPr lang="zh-CN" altLang="en-US" dirty="0"/>
              <a:t>，把时钟频率调最大</a:t>
            </a:r>
            <a:endParaRPr lang="en-US" altLang="zh-CN" dirty="0"/>
          </a:p>
          <a:p>
            <a:r>
              <a:rPr lang="en-US" altLang="zh-CN" dirty="0"/>
              <a:t>Project Manager</a:t>
            </a:r>
            <a:r>
              <a:rPr lang="zh-CN" altLang="en-US" dirty="0"/>
              <a:t>：</a:t>
            </a:r>
            <a:r>
              <a:rPr lang="en-US" altLang="zh-CN" dirty="0"/>
              <a:t>project</a:t>
            </a:r>
            <a:r>
              <a:rPr lang="zh-CN" altLang="en-US" dirty="0"/>
              <a:t>内</a:t>
            </a:r>
            <a:r>
              <a:rPr lang="en-US" altLang="zh-CN" dirty="0"/>
              <a:t>IDE</a:t>
            </a:r>
            <a:r>
              <a:rPr lang="zh-CN" altLang="en-US" dirty="0"/>
              <a:t>选</a:t>
            </a:r>
            <a:r>
              <a:rPr lang="en-US" altLang="zh-CN" dirty="0"/>
              <a:t>MDK-ARM</a:t>
            </a:r>
            <a:r>
              <a:rPr lang="zh-CN" altLang="en-US" dirty="0"/>
              <a:t>，</a:t>
            </a:r>
            <a:r>
              <a:rPr lang="en-US" altLang="zh-CN" dirty="0"/>
              <a:t>Code Generator</a:t>
            </a:r>
            <a:r>
              <a:rPr lang="zh-CN" altLang="en-US" dirty="0"/>
              <a:t>勾选“</a:t>
            </a:r>
            <a:r>
              <a:rPr lang="en-US" altLang="zh-CN" dirty="0"/>
              <a:t>.c/.h</a:t>
            </a:r>
            <a:r>
              <a:rPr lang="zh-CN" altLang="en-US" dirty="0"/>
              <a:t>”</a:t>
            </a:r>
            <a:endParaRPr lang="en-US" altLang="zh-CN" dirty="0"/>
          </a:p>
          <a:p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32278805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2C1C4E-71DC-2949-8B7C-901F9D4993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OLED</a:t>
            </a:r>
            <a:r>
              <a:rPr lang="zh-CN" altLang="en-US" dirty="0"/>
              <a:t>驱动</a:t>
            </a:r>
          </a:p>
        </p:txBody>
      </p:sp>
      <p:sp>
        <p:nvSpPr>
          <p:cNvPr id="14" name="内容占位符 4">
            <a:extLst>
              <a:ext uri="{FF2B5EF4-FFF2-40B4-BE49-F238E27FC236}">
                <a16:creationId xmlns:a16="http://schemas.microsoft.com/office/drawing/2014/main" id="{82302334-9746-90A7-3636-E45EF4D99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961" y="5595854"/>
            <a:ext cx="9092995" cy="1100786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zh-CN" altLang="zh-CN" dirty="0"/>
              <a:t>C 语言里每个字符串末尾，编译器会自动加一个 '\0'（ASCII 值为 0）</a:t>
            </a:r>
            <a:endParaRPr lang="en-US" altLang="zh-CN" dirty="0"/>
          </a:p>
          <a:p>
            <a:pPr marL="0" indent="0">
              <a:buNone/>
            </a:pPr>
            <a:r>
              <a:rPr lang="zh-CN" altLang="zh-CN" dirty="0"/>
              <a:t>OLED 分页，一页 8 像素。16 号字高 16 像素 = 2 页，所以换行要跳 2 页。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学会怎么调用驱动函数</a:t>
            </a:r>
            <a:endParaRPr lang="en-US" altLang="zh-CN" dirty="0"/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01E27AF1-2C0A-0A40-FE5A-A58EA75EFA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729" y="1003166"/>
            <a:ext cx="4647854" cy="75843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27985A6-59C4-14A1-23C9-B8358F2518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210" y="1873160"/>
            <a:ext cx="8274475" cy="1384371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1EE3E68A-59DF-45D8-2DE1-A50561F3C9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6544" y="3369089"/>
            <a:ext cx="6286823" cy="15621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83702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9DDF13-A131-02A4-D9CF-A0D384DF0A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F381A7-2C71-DD10-D9F8-D5F6120470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EXTI</a:t>
            </a:r>
            <a:r>
              <a:rPr lang="zh-CN" altLang="en-US" dirty="0"/>
              <a:t>外部中断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2E643D2-EEA0-1288-1F79-114B585F09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zh-CN" altLang="zh-CN" b="1" dirty="0"/>
              <a:t>EXTI（External interrupt/event controller）—外部中断/事件控制器，管理了控制器的 20个中断/事件线。每个中断/事件线都对应有一个边沿检测器，可以实现输入信号的上升沿检测和下降沿的检测。EXTI 可以实现对每个中断/事件线进行单独配置，可以单独配置为中断或者事件，以及触发事件的属性。</a:t>
            </a:r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将其写成标准形式就是：</a:t>
            </a:r>
          </a:p>
        </p:txBody>
      </p:sp>
    </p:spTree>
    <p:extLst>
      <p:ext uri="{BB962C8B-B14F-4D97-AF65-F5344CB8AC3E}">
        <p14:creationId xmlns:p14="http://schemas.microsoft.com/office/powerpoint/2010/main" val="13469797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84290A-69D7-5423-9790-CD38DED3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E1EE5D8-23F0-384E-1D50-C3188E3D5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预分频系数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B6B741E-94C1-C4CD-DD22-ED802181C5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dirty="0"/>
              <a:t>STM32 </a:t>
            </a:r>
            <a:r>
              <a:rPr lang="zh-CN" altLang="en-US" dirty="0"/>
              <a:t>定时器时钟通常为 </a:t>
            </a:r>
            <a:r>
              <a:rPr lang="en-US" altLang="zh-CN" dirty="0"/>
              <a:t>72MHz</a:t>
            </a:r>
            <a:r>
              <a:rPr lang="zh-CN" altLang="en-US" dirty="0"/>
              <a:t>，如果 </a:t>
            </a:r>
            <a:r>
              <a:rPr lang="en-US" altLang="zh-CN" dirty="0"/>
              <a:t>CNT </a:t>
            </a:r>
            <a:r>
              <a:rPr lang="zh-CN" altLang="en-US" dirty="0"/>
              <a:t>直接按 </a:t>
            </a:r>
            <a:r>
              <a:rPr lang="en-US" altLang="zh-CN" dirty="0"/>
              <a:t>72MHz </a:t>
            </a:r>
            <a:r>
              <a:rPr lang="zh-CN" altLang="en-US" dirty="0"/>
              <a:t>计数：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每 </a:t>
            </a:r>
            <a:r>
              <a:rPr lang="en-US" altLang="zh-CN" dirty="0"/>
              <a:t>1/72MHz ≈ 13.9ns</a:t>
            </a:r>
            <a:r>
              <a:rPr lang="zh-CN" altLang="en-US" dirty="0"/>
              <a:t>，</a:t>
            </a:r>
            <a:r>
              <a:rPr lang="en-US" altLang="zh-CN" dirty="0"/>
              <a:t>CNT </a:t>
            </a:r>
            <a:r>
              <a:rPr lang="zh-CN" altLang="en-US" dirty="0"/>
              <a:t>加 </a:t>
            </a:r>
            <a:r>
              <a:rPr lang="en-US" altLang="zh-CN" dirty="0"/>
              <a:t>1-</a:t>
            </a:r>
            <a:r>
              <a:rPr lang="zh-CN" altLang="en-US" dirty="0"/>
              <a:t>，</a:t>
            </a:r>
            <a:r>
              <a:rPr lang="en-US" altLang="zh-CN" dirty="0"/>
              <a:t>CNT </a:t>
            </a:r>
            <a:r>
              <a:rPr lang="zh-CN" altLang="en-US" dirty="0"/>
              <a:t>是 </a:t>
            </a:r>
            <a:r>
              <a:rPr lang="en-US" altLang="zh-CN" dirty="0"/>
              <a:t>16 </a:t>
            </a:r>
            <a:r>
              <a:rPr lang="zh-CN" altLang="en-US" dirty="0"/>
              <a:t>位，最大 </a:t>
            </a:r>
            <a:r>
              <a:rPr lang="en-US" altLang="zh-CN" dirty="0"/>
              <a:t>65535</a:t>
            </a:r>
          </a:p>
          <a:p>
            <a:pPr marL="0" indent="0">
              <a:buNone/>
            </a:pPr>
            <a:r>
              <a:rPr lang="zh-CN" altLang="en-US" dirty="0"/>
              <a:t>从 </a:t>
            </a:r>
            <a:r>
              <a:rPr lang="en-US" altLang="zh-CN" dirty="0"/>
              <a:t>0 </a:t>
            </a:r>
            <a:r>
              <a:rPr lang="zh-CN" altLang="en-US" dirty="0"/>
              <a:t>到 </a:t>
            </a:r>
            <a:r>
              <a:rPr lang="en-US" altLang="zh-CN" dirty="0"/>
              <a:t>65535 </a:t>
            </a:r>
            <a:r>
              <a:rPr lang="zh-CN" altLang="en-US" dirty="0"/>
              <a:t>只要约 </a:t>
            </a:r>
            <a:r>
              <a:rPr lang="en-US" altLang="zh-CN" dirty="0"/>
              <a:t>0.91ms</a:t>
            </a:r>
            <a:r>
              <a:rPr lang="zh-CN" altLang="en-US" dirty="0"/>
              <a:t>这样太快，不方便定时 </a:t>
            </a:r>
            <a:r>
              <a:rPr lang="en-US" altLang="zh-CN" dirty="0"/>
              <a:t>1s</a:t>
            </a:r>
            <a:r>
              <a:rPr lang="zh-CN" altLang="en-US" dirty="0"/>
              <a:t>、</a:t>
            </a:r>
            <a:r>
              <a:rPr lang="en-US" altLang="zh-CN" dirty="0"/>
              <a:t>2s</a:t>
            </a:r>
            <a:r>
              <a:rPr lang="zh-CN" altLang="en-US" dirty="0"/>
              <a:t>，所以需要 </a:t>
            </a:r>
            <a:r>
              <a:rPr lang="en-US" altLang="zh-CN" dirty="0"/>
              <a:t>PSC </a:t>
            </a:r>
            <a:r>
              <a:rPr lang="zh-CN" altLang="en-US" dirty="0"/>
              <a:t>先分频。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CNT </a:t>
            </a:r>
            <a:r>
              <a:rPr lang="zh-CN" altLang="en-US" dirty="0"/>
              <a:t>计数频率 </a:t>
            </a:r>
            <a:r>
              <a:rPr lang="en-US" altLang="zh-CN" dirty="0"/>
              <a:t>= HCLK/ (PSC + 1)</a:t>
            </a:r>
          </a:p>
          <a:p>
            <a:pPr marL="0" indent="0">
              <a:buNone/>
            </a:pPr>
            <a:r>
              <a:rPr lang="zh-CN" altLang="en-US" dirty="0"/>
              <a:t>定时时间</a:t>
            </a:r>
            <a:r>
              <a:rPr lang="en-US" altLang="zh-CN" dirty="0"/>
              <a:t>t</a:t>
            </a:r>
            <a:r>
              <a:rPr lang="zh-CN" altLang="en-US" dirty="0"/>
              <a:t> </a:t>
            </a:r>
            <a:r>
              <a:rPr lang="en-US" altLang="zh-CN" dirty="0"/>
              <a:t>= (PSC + 1) × (ARR + 1) / HCLK</a:t>
            </a:r>
          </a:p>
          <a:p>
            <a:pPr marL="0" indent="0">
              <a:buNone/>
            </a:pPr>
            <a:r>
              <a:rPr lang="zh-CN" altLang="en-US" dirty="0"/>
              <a:t>更新频率 </a:t>
            </a:r>
            <a:r>
              <a:rPr lang="en-US" altLang="zh-CN" dirty="0"/>
              <a:t>= HCLK/ ((PSC + 1) × (ARR + 1))</a:t>
            </a:r>
          </a:p>
          <a:p>
            <a:pPr marL="0" indent="0">
              <a:buNone/>
            </a:pPr>
            <a:r>
              <a:rPr lang="en-US" altLang="zh-CN" dirty="0"/>
              <a:t>PSC</a:t>
            </a:r>
            <a:r>
              <a:rPr lang="zh-CN" altLang="en-US" dirty="0"/>
              <a:t>：决定 </a:t>
            </a:r>
            <a:r>
              <a:rPr lang="en-US" altLang="zh-CN" dirty="0"/>
              <a:t>CNT </a:t>
            </a:r>
            <a:r>
              <a:rPr lang="zh-CN" altLang="en-US" dirty="0"/>
              <a:t>多久加一次。</a:t>
            </a:r>
            <a:r>
              <a:rPr lang="en-US" altLang="zh-CN" dirty="0"/>
              <a:t>ARR</a:t>
            </a:r>
            <a:r>
              <a:rPr lang="zh-CN" altLang="en-US" dirty="0"/>
              <a:t>：决定 </a:t>
            </a:r>
            <a:r>
              <a:rPr lang="en-US" altLang="zh-CN" dirty="0"/>
              <a:t>CNT </a:t>
            </a:r>
            <a:r>
              <a:rPr lang="zh-CN" altLang="en-US" dirty="0"/>
              <a:t>加到多少溢出。</a:t>
            </a:r>
          </a:p>
        </p:txBody>
      </p:sp>
    </p:spTree>
    <p:extLst>
      <p:ext uri="{BB962C8B-B14F-4D97-AF65-F5344CB8AC3E}">
        <p14:creationId xmlns:p14="http://schemas.microsoft.com/office/powerpoint/2010/main" val="3616941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D9D2F6-AD60-C4AC-27B5-336B0466B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056971-FA0D-80CA-972C-526845F0C8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微秒级延时函数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05F9260-4C14-148B-55AA-C165EE98EF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altLang="zh-CN" dirty="0"/>
              <a:t>void </a:t>
            </a:r>
            <a:r>
              <a:rPr lang="en-US" altLang="zh-CN" dirty="0" err="1"/>
              <a:t>RCCdelay_us</a:t>
            </a:r>
            <a:r>
              <a:rPr lang="en-US" altLang="zh-CN" dirty="0"/>
              <a:t>(uint32_t </a:t>
            </a:r>
            <a:r>
              <a:rPr lang="en-US" altLang="zh-CN" dirty="0" err="1"/>
              <a:t>udelay</a:t>
            </a:r>
            <a:r>
              <a:rPr lang="en-US" altLang="zh-CN" dirty="0"/>
              <a:t>)</a:t>
            </a:r>
          </a:p>
          <a:p>
            <a:pPr marL="0" indent="0">
              <a:buNone/>
            </a:pPr>
            <a:r>
              <a:rPr lang="en-US" altLang="zh-CN" dirty="0"/>
              <a:t>{</a:t>
            </a:r>
          </a:p>
          <a:p>
            <a:pPr marL="0" indent="0">
              <a:buNone/>
            </a:pPr>
            <a:r>
              <a:rPr lang="en-US" altLang="zh-CN" dirty="0"/>
              <a:t>  __IO uint32_t Delay = </a:t>
            </a:r>
            <a:r>
              <a:rPr lang="en-US" altLang="zh-CN" dirty="0" err="1"/>
              <a:t>udelay</a:t>
            </a:r>
            <a:r>
              <a:rPr lang="en-US" altLang="zh-CN" dirty="0"/>
              <a:t> * 72 / 8;//(</a:t>
            </a:r>
            <a:r>
              <a:rPr lang="en-US" altLang="zh-CN" dirty="0" err="1"/>
              <a:t>SystemCoreClock</a:t>
            </a:r>
            <a:r>
              <a:rPr lang="en-US" altLang="zh-CN" dirty="0"/>
              <a:t> / 8U / 1000000U)</a:t>
            </a:r>
          </a:p>
          <a:p>
            <a:pPr marL="0" indent="0">
              <a:buNone/>
            </a:pPr>
            <a:r>
              <a:rPr lang="en-US" altLang="zh-CN" dirty="0"/>
              <a:t>    //</a:t>
            </a:r>
            <a:r>
              <a:rPr lang="zh-CN" altLang="en-US" dirty="0"/>
              <a:t>见</a:t>
            </a:r>
            <a:r>
              <a:rPr lang="en-US" altLang="zh-CN" dirty="0"/>
              <a:t>stm32f1xx_hal_rcc.c -- static void </a:t>
            </a:r>
            <a:r>
              <a:rPr lang="en-US" altLang="zh-CN" dirty="0" err="1"/>
              <a:t>RCC_Delay</a:t>
            </a:r>
            <a:r>
              <a:rPr lang="en-US" altLang="zh-CN" dirty="0"/>
              <a:t>(uint32_t </a:t>
            </a:r>
            <a:r>
              <a:rPr lang="en-US" altLang="zh-CN" dirty="0" err="1"/>
              <a:t>mdelay</a:t>
            </a:r>
            <a:r>
              <a:rPr lang="en-US" altLang="zh-CN" dirty="0"/>
              <a:t>)</a:t>
            </a:r>
          </a:p>
          <a:p>
            <a:pPr marL="0" indent="0">
              <a:buNone/>
            </a:pPr>
            <a:r>
              <a:rPr lang="en-US" altLang="zh-CN" dirty="0"/>
              <a:t>  do</a:t>
            </a:r>
          </a:p>
          <a:p>
            <a:pPr marL="0" indent="0">
              <a:buNone/>
            </a:pPr>
            <a:r>
              <a:rPr lang="en-US" altLang="zh-CN" dirty="0"/>
              <a:t>  {</a:t>
            </a:r>
          </a:p>
          <a:p>
            <a:pPr marL="0" indent="0">
              <a:buNone/>
            </a:pPr>
            <a:r>
              <a:rPr lang="en-US" altLang="zh-CN" dirty="0"/>
              <a:t>    __NOP();//</a:t>
            </a:r>
            <a:r>
              <a:rPr lang="zh-CN" altLang="en-US" dirty="0"/>
              <a:t>空指令，空转</a:t>
            </a:r>
            <a:r>
              <a:rPr lang="en-US" altLang="zh-CN" dirty="0"/>
              <a:t>CPU</a:t>
            </a:r>
          </a:p>
          <a:p>
            <a:pPr marL="0" indent="0">
              <a:buNone/>
            </a:pPr>
            <a:r>
              <a:rPr lang="en-US" altLang="zh-CN" dirty="0"/>
              <a:t>  }</a:t>
            </a:r>
          </a:p>
          <a:p>
            <a:pPr marL="0" indent="0">
              <a:buNone/>
            </a:pPr>
            <a:r>
              <a:rPr lang="en-US" altLang="zh-CN" dirty="0"/>
              <a:t>  while (Delay --);</a:t>
            </a:r>
          </a:p>
          <a:p>
            <a:pPr marL="0" indent="0">
              <a:buNone/>
            </a:pPr>
            <a:r>
              <a:rPr lang="en-US" altLang="zh-CN" dirty="0"/>
              <a:t>}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52191497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EF0C3B1-BABA-58D1-7389-506578879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超声波测距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F2A737-5367-CC26-01D9-B812B633D7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68721"/>
            <a:ext cx="12192000" cy="5889279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altLang="zh-CN" dirty="0"/>
              <a:t>HC-SR05</a:t>
            </a:r>
            <a:r>
              <a:rPr lang="zh-CN" altLang="en-US" dirty="0"/>
              <a:t>模块由超声波发射器（</a:t>
            </a:r>
            <a:r>
              <a:rPr lang="en-US" altLang="zh-CN" dirty="0"/>
              <a:t>TXR</a:t>
            </a:r>
            <a:r>
              <a:rPr lang="zh-CN" altLang="en-US" dirty="0"/>
              <a:t>）、超声波接收器（</a:t>
            </a:r>
            <a:r>
              <a:rPr lang="en-US" altLang="zh-CN" dirty="0"/>
              <a:t>RXR</a:t>
            </a:r>
            <a:r>
              <a:rPr lang="zh-CN" altLang="en-US" dirty="0"/>
              <a:t>）、内部控制</a:t>
            </a:r>
            <a:r>
              <a:rPr lang="en-US" altLang="zh-CN" dirty="0"/>
              <a:t>MCU</a:t>
            </a:r>
            <a:r>
              <a:rPr lang="zh-CN" altLang="en-US" dirty="0"/>
              <a:t>、电源滤波电路四部分组成（部分简化版省略滤波电路，但核心功能一致），完整工作流程需外部控制器（如单片机）与模块协同完成，共</a:t>
            </a:r>
            <a:r>
              <a:rPr lang="en-US" altLang="zh-CN" dirty="0"/>
              <a:t>5</a:t>
            </a:r>
            <a:r>
              <a:rPr lang="zh-CN" altLang="en-US" dirty="0"/>
              <a:t>个步骤：</a:t>
            </a:r>
            <a:endParaRPr lang="en-US" altLang="zh-CN" dirty="0"/>
          </a:p>
          <a:p>
            <a:pPr marL="457200" indent="-457200">
              <a:buAutoNum type="arabicPeriod"/>
            </a:pPr>
            <a:r>
              <a:rPr lang="zh-CN" altLang="en-US" dirty="0"/>
              <a:t>外部触发：向</a:t>
            </a:r>
            <a:r>
              <a:rPr lang="en-US" altLang="zh-CN" dirty="0"/>
              <a:t>TRIG</a:t>
            </a:r>
            <a:r>
              <a:rPr lang="zh-CN" altLang="en-US" dirty="0"/>
              <a:t>引脚输入触发信号外部控制器需向模块的 </a:t>
            </a:r>
            <a:r>
              <a:rPr lang="en-US" altLang="zh-CN" dirty="0"/>
              <a:t>TRIG</a:t>
            </a:r>
            <a:r>
              <a:rPr lang="zh-CN" altLang="en-US" dirty="0"/>
              <a:t>引脚 发送一个 持续时间≥</a:t>
            </a:r>
            <a:r>
              <a:rPr lang="en-US" altLang="zh-CN" dirty="0"/>
              <a:t>10μs</a:t>
            </a:r>
            <a:r>
              <a:rPr lang="zh-CN" altLang="en-US" dirty="0"/>
              <a:t>的高电平信号，触发模块进入测距模式：信号要求：高电平持续时间需严格控制（建议</a:t>
            </a:r>
            <a:r>
              <a:rPr lang="en-US" altLang="zh-CN" dirty="0"/>
              <a:t>10-20μs</a:t>
            </a:r>
            <a:r>
              <a:rPr lang="zh-CN" altLang="en-US" dirty="0"/>
              <a:t>），过短（</a:t>
            </a:r>
            <a:r>
              <a:rPr lang="en-US" altLang="zh-CN" dirty="0"/>
              <a:t>&lt;10μs</a:t>
            </a:r>
            <a:r>
              <a:rPr lang="zh-CN" altLang="en-US" dirty="0"/>
              <a:t>）会导致模块无法识别触发指令，过长（</a:t>
            </a:r>
            <a:r>
              <a:rPr lang="en-US" altLang="zh-CN" dirty="0"/>
              <a:t>&gt;50μs</a:t>
            </a:r>
            <a:r>
              <a:rPr lang="zh-CN" altLang="en-US" dirty="0"/>
              <a:t>）可能引发内部</a:t>
            </a:r>
            <a:r>
              <a:rPr lang="en-US" altLang="zh-CN" dirty="0"/>
              <a:t>MCU</a:t>
            </a:r>
            <a:r>
              <a:rPr lang="zh-CN" altLang="en-US" dirty="0"/>
              <a:t>误判；示例：</a:t>
            </a:r>
            <a:r>
              <a:rPr lang="en-US" altLang="zh-CN" dirty="0"/>
              <a:t>STM32</a:t>
            </a:r>
            <a:r>
              <a:rPr lang="zh-CN" altLang="en-US" dirty="0"/>
              <a:t>单片机通过</a:t>
            </a:r>
            <a:r>
              <a:rPr lang="en-US" altLang="zh-CN" dirty="0"/>
              <a:t>GPIO</a:t>
            </a:r>
            <a:r>
              <a:rPr lang="zh-CN" altLang="en-US" dirty="0"/>
              <a:t>口输出</a:t>
            </a:r>
            <a:r>
              <a:rPr lang="en-US" altLang="zh-CN" dirty="0"/>
              <a:t>15μs</a:t>
            </a:r>
            <a:r>
              <a:rPr lang="zh-CN" altLang="en-US" dirty="0"/>
              <a:t>高电平，可稳定触发</a:t>
            </a:r>
            <a:r>
              <a:rPr lang="en-US" altLang="zh-CN" dirty="0"/>
              <a:t>HC-SR05</a:t>
            </a:r>
            <a:r>
              <a:rPr lang="zh-CN" altLang="en-US" dirty="0"/>
              <a:t>。</a:t>
            </a:r>
            <a:endParaRPr lang="en-US" altLang="zh-CN" dirty="0"/>
          </a:p>
          <a:p>
            <a:pPr marL="457200" indent="-457200">
              <a:buAutoNum type="arabicPeriod"/>
            </a:pPr>
            <a:r>
              <a:rPr lang="zh-CN" altLang="en-US" dirty="0"/>
              <a:t>声波发射：</a:t>
            </a:r>
            <a:r>
              <a:rPr lang="en-US" altLang="zh-CN" dirty="0"/>
              <a:t>TXR</a:t>
            </a:r>
            <a:r>
              <a:rPr lang="zh-CN" altLang="en-US" dirty="0"/>
              <a:t>输出</a:t>
            </a:r>
            <a:r>
              <a:rPr lang="en-US" altLang="zh-CN" dirty="0"/>
              <a:t>40kHz</a:t>
            </a:r>
            <a:r>
              <a:rPr lang="zh-CN" altLang="en-US" dirty="0"/>
              <a:t>超声波脉冲模块内部</a:t>
            </a:r>
            <a:r>
              <a:rPr lang="en-US" altLang="zh-CN" dirty="0"/>
              <a:t>MCU</a:t>
            </a:r>
            <a:r>
              <a:rPr lang="zh-CN" altLang="en-US" dirty="0"/>
              <a:t>接收到</a:t>
            </a:r>
            <a:r>
              <a:rPr lang="en-US" altLang="zh-CN" dirty="0"/>
              <a:t>TRIG</a:t>
            </a:r>
            <a:r>
              <a:rPr lang="zh-CN" altLang="en-US" dirty="0"/>
              <a:t>触发信号后，会驱动发射器（</a:t>
            </a:r>
            <a:r>
              <a:rPr lang="en-US" altLang="zh-CN" dirty="0"/>
              <a:t>TXR</a:t>
            </a:r>
            <a:r>
              <a:rPr lang="zh-CN" altLang="en-US" dirty="0"/>
              <a:t>，通常为压电陶瓷换能器）输出 </a:t>
            </a:r>
            <a:r>
              <a:rPr lang="en-US" altLang="zh-CN" dirty="0"/>
              <a:t>8</a:t>
            </a:r>
            <a:r>
              <a:rPr lang="zh-CN" altLang="en-US" dirty="0"/>
              <a:t>个连续的</a:t>
            </a:r>
            <a:r>
              <a:rPr lang="en-US" altLang="zh-CN" dirty="0"/>
              <a:t>40kHz</a:t>
            </a:r>
            <a:r>
              <a:rPr lang="zh-CN" altLang="en-US" dirty="0"/>
              <a:t>正弦波脉冲：频率选择原因：</a:t>
            </a:r>
            <a:r>
              <a:rPr lang="en-US" altLang="zh-CN" dirty="0"/>
              <a:t>40kHz</a:t>
            </a:r>
            <a:r>
              <a:rPr lang="zh-CN" altLang="en-US" dirty="0"/>
              <a:t>是“测距距离”与“抗干扰能力”的平衡点</a:t>
            </a:r>
            <a:r>
              <a:rPr lang="en-US" altLang="zh-CN" dirty="0"/>
              <a:t>——</a:t>
            </a:r>
            <a:r>
              <a:rPr lang="zh-CN" altLang="en-US" dirty="0"/>
              <a:t>低于</a:t>
            </a:r>
            <a:r>
              <a:rPr lang="en-US" altLang="zh-CN" dirty="0"/>
              <a:t>30kHz</a:t>
            </a:r>
            <a:r>
              <a:rPr lang="zh-CN" altLang="en-US" dirty="0"/>
              <a:t>易受环境噪音（如电机、风扇）干扰，高于</a:t>
            </a:r>
            <a:r>
              <a:rPr lang="en-US" altLang="zh-CN" dirty="0"/>
              <a:t>50kHz</a:t>
            </a:r>
            <a:r>
              <a:rPr lang="zh-CN" altLang="en-US" dirty="0"/>
              <a:t>会导致声波衰减过快（传播距离缩短）；脉冲数量：</a:t>
            </a:r>
            <a:r>
              <a:rPr lang="en-US" altLang="zh-CN" dirty="0"/>
              <a:t>8</a:t>
            </a:r>
            <a:r>
              <a:rPr lang="zh-CN" altLang="en-US" dirty="0"/>
              <a:t>个脉冲可确保接收器能准确识别“有效信号”，避免单脉冲因环境干扰被误判为噪音。</a:t>
            </a:r>
            <a:endParaRPr lang="en-US" altLang="zh-CN" dirty="0"/>
          </a:p>
          <a:p>
            <a:pPr marL="457200" indent="-457200">
              <a:buAutoNum type="arabicPeriod"/>
            </a:pPr>
            <a:r>
              <a:rPr lang="en-US" altLang="zh-CN" dirty="0"/>
              <a:t> </a:t>
            </a:r>
            <a:r>
              <a:rPr lang="zh-CN" altLang="en-US" dirty="0"/>
              <a:t>声波传播与回波接收：</a:t>
            </a:r>
            <a:r>
              <a:rPr lang="en-US" altLang="zh-CN" dirty="0"/>
              <a:t>RXR</a:t>
            </a:r>
            <a:r>
              <a:rPr lang="zh-CN" altLang="en-US" dirty="0"/>
              <a:t>捕获反射信号传播阶段：</a:t>
            </a:r>
            <a:r>
              <a:rPr lang="en-US" altLang="zh-CN" dirty="0"/>
              <a:t>40kHz</a:t>
            </a:r>
            <a:r>
              <a:rPr lang="zh-CN" altLang="en-US" dirty="0"/>
              <a:t>超声波以球面波形式在空气中传播，遇到障碍物（如墙面、金属板、液体表面）时，部分能量被反射形成“回波”；接收阶段：回波传播至模块时，接收器（</a:t>
            </a:r>
            <a:r>
              <a:rPr lang="en-US" altLang="zh-CN" dirty="0"/>
              <a:t>RXR</a:t>
            </a:r>
            <a:r>
              <a:rPr lang="zh-CN" altLang="en-US" dirty="0"/>
              <a:t>，与</a:t>
            </a:r>
            <a:r>
              <a:rPr lang="en-US" altLang="zh-CN" dirty="0"/>
              <a:t>TXR</a:t>
            </a:r>
            <a:r>
              <a:rPr lang="zh-CN" altLang="en-US" dirty="0"/>
              <a:t>结构相同，功能为“声</a:t>
            </a:r>
            <a:r>
              <a:rPr lang="en-US" altLang="zh-CN" dirty="0"/>
              <a:t>-</a:t>
            </a:r>
            <a:r>
              <a:rPr lang="zh-CN" altLang="en-US" dirty="0"/>
              <a:t>电转换”）将机械波信号转换为微弱的电信号，经内部放大电路（通常为运算放大器）放大后，传递给内部</a:t>
            </a:r>
            <a:r>
              <a:rPr lang="en-US" altLang="zh-CN" dirty="0"/>
              <a:t>MCU</a:t>
            </a:r>
            <a:r>
              <a:rPr lang="zh-CN" altLang="en-US" dirty="0"/>
              <a:t>。</a:t>
            </a:r>
            <a:endParaRPr lang="en-US" altLang="zh-CN" dirty="0"/>
          </a:p>
          <a:p>
            <a:pPr marL="457200" indent="-457200">
              <a:buAutoNum type="arabicPeriod"/>
            </a:pPr>
            <a:r>
              <a:rPr lang="en-US" altLang="zh-CN" dirty="0"/>
              <a:t> </a:t>
            </a:r>
            <a:r>
              <a:rPr lang="zh-CN" altLang="en-US" dirty="0"/>
              <a:t>回波反馈：</a:t>
            </a:r>
            <a:r>
              <a:rPr lang="en-US" altLang="zh-CN" dirty="0"/>
              <a:t>ECHO</a:t>
            </a:r>
            <a:r>
              <a:rPr lang="zh-CN" altLang="en-US" dirty="0"/>
              <a:t>引脚输出高电平计时信号模块内部</a:t>
            </a:r>
            <a:r>
              <a:rPr lang="en-US" altLang="zh-CN" dirty="0"/>
              <a:t>MCU</a:t>
            </a:r>
            <a:r>
              <a:rPr lang="zh-CN" altLang="en-US" dirty="0"/>
              <a:t>检测到放大后的回波电信号后，立即控制 </a:t>
            </a:r>
            <a:r>
              <a:rPr lang="en-US" altLang="zh-CN" dirty="0"/>
              <a:t>ECHO</a:t>
            </a:r>
            <a:r>
              <a:rPr lang="zh-CN" altLang="en-US" dirty="0"/>
              <a:t>引脚 输出高电平，直至回波信号消失（或内部超时）：高电平持续时间意义：</a:t>
            </a:r>
            <a:r>
              <a:rPr lang="en-US" altLang="zh-CN" dirty="0"/>
              <a:t>ECHO</a:t>
            </a:r>
            <a:r>
              <a:rPr lang="zh-CN" altLang="en-US" dirty="0"/>
              <a:t>引脚高电平的 总持续时间 </a:t>
            </a:r>
            <a:r>
              <a:rPr lang="en-US" altLang="zh-CN" dirty="0"/>
              <a:t>( t )</a:t>
            </a:r>
            <a:r>
              <a:rPr lang="zh-CN" altLang="en-US" dirty="0"/>
              <a:t>，等于“超声波从</a:t>
            </a:r>
            <a:r>
              <a:rPr lang="en-US" altLang="zh-CN" dirty="0"/>
              <a:t>TXR</a:t>
            </a:r>
            <a:r>
              <a:rPr lang="zh-CN" altLang="en-US" dirty="0"/>
              <a:t>发射到</a:t>
            </a:r>
            <a:r>
              <a:rPr lang="en-US" altLang="zh-CN" dirty="0"/>
              <a:t>RXR</a:t>
            </a:r>
            <a:r>
              <a:rPr lang="zh-CN" altLang="en-US" dirty="0"/>
              <a:t>接收”的往返时间（即声波从模块到障碍物再返回模块的总时间）；超时机制：若模块在发射声波后 </a:t>
            </a:r>
            <a:r>
              <a:rPr lang="en-US" altLang="zh-CN" dirty="0"/>
              <a:t>38ms</a:t>
            </a:r>
            <a:r>
              <a:rPr lang="zh-CN" altLang="en-US" dirty="0"/>
              <a:t>内未接收到回波（对应最大测距距离约</a:t>
            </a:r>
            <a:r>
              <a:rPr lang="en-US" altLang="zh-CN" dirty="0"/>
              <a:t>6.5m</a:t>
            </a:r>
            <a:r>
              <a:rPr lang="zh-CN" altLang="en-US" dirty="0"/>
              <a:t>，远超模块标称的</a:t>
            </a:r>
            <a:r>
              <a:rPr lang="en-US" altLang="zh-CN" dirty="0"/>
              <a:t>4m</a:t>
            </a:r>
            <a:r>
              <a:rPr lang="zh-CN" altLang="en-US" dirty="0"/>
              <a:t>上限），</a:t>
            </a:r>
            <a:r>
              <a:rPr lang="en-US" altLang="zh-CN" dirty="0"/>
              <a:t>ECHO</a:t>
            </a:r>
            <a:r>
              <a:rPr lang="zh-CN" altLang="en-US" dirty="0"/>
              <a:t>引脚会自动拉低，避免长期占用外部控制器资源。</a:t>
            </a:r>
            <a:endParaRPr lang="en-US" altLang="zh-CN" dirty="0"/>
          </a:p>
          <a:p>
            <a:pPr marL="457200" indent="-457200">
              <a:buAutoNum type="arabicPeriod"/>
            </a:pPr>
            <a:r>
              <a:rPr lang="en-US" altLang="zh-CN" dirty="0"/>
              <a:t> </a:t>
            </a:r>
            <a:r>
              <a:rPr lang="zh-CN" altLang="en-US" dirty="0"/>
              <a:t>距离计算：外部控制器计算单程距离外部控制器通过定时器（或中断）读取</a:t>
            </a:r>
            <a:r>
              <a:rPr lang="en-US" altLang="zh-CN" dirty="0"/>
              <a:t>ECHO</a:t>
            </a:r>
            <a:r>
              <a:rPr lang="zh-CN" altLang="en-US" dirty="0"/>
              <a:t>引脚高电平的持续时间 </a:t>
            </a:r>
            <a:r>
              <a:rPr lang="en-US" altLang="zh-CN" dirty="0"/>
              <a:t>( t )</a:t>
            </a:r>
            <a:r>
              <a:rPr lang="zh-CN" altLang="en-US" dirty="0"/>
              <a:t>，结合校准后的声速 </a:t>
            </a:r>
            <a:r>
              <a:rPr lang="en-US" altLang="zh-CN" dirty="0"/>
              <a:t>( v )</a:t>
            </a:r>
            <a:r>
              <a:rPr lang="zh-CN" altLang="en-US" dirty="0"/>
              <a:t>，计算模块与障碍物的 单程距离 </a:t>
            </a:r>
            <a:r>
              <a:rPr lang="en-US" altLang="zh-CN" dirty="0"/>
              <a:t>( d )</a:t>
            </a:r>
            <a:r>
              <a:rPr lang="zh-CN" altLang="en-US" dirty="0"/>
              <a:t>：公式推导：声波往返距离 </a:t>
            </a:r>
            <a:r>
              <a:rPr lang="en-US" altLang="zh-CN" dirty="0"/>
              <a:t>= </a:t>
            </a:r>
            <a:r>
              <a:rPr lang="zh-CN" altLang="en-US" dirty="0"/>
              <a:t>声速 </a:t>
            </a:r>
            <a:r>
              <a:rPr lang="en-US" altLang="zh-CN" dirty="0"/>
              <a:t>× </a:t>
            </a:r>
            <a:r>
              <a:rPr lang="zh-CN" altLang="en-US" dirty="0"/>
              <a:t>往返时间</a:t>
            </a:r>
            <a:endParaRPr lang="en-US" altLang="zh-CN" dirty="0"/>
          </a:p>
        </p:txBody>
      </p:sp>
    </p:spTree>
    <p:extLst>
      <p:ext uri="{BB962C8B-B14F-4D97-AF65-F5344CB8AC3E}">
        <p14:creationId xmlns:p14="http://schemas.microsoft.com/office/powerpoint/2010/main" val="10936901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9C4C01-3D55-66D9-1C3C-E3ACEDE43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图片 4">
            <a:extLst>
              <a:ext uri="{FF2B5EF4-FFF2-40B4-BE49-F238E27FC236}">
                <a16:creationId xmlns:a16="http://schemas.microsoft.com/office/drawing/2014/main" id="{A0979AB4-3329-B1B0-C5A6-6D0AA586EE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935" y="1201295"/>
            <a:ext cx="7056065" cy="3335097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F12B2C38-0789-79C2-8E97-7419E3741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超声波测距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599A8E3-F02E-96E5-338E-CC6BEFDA8C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触发引脚配置成</a:t>
            </a:r>
            <a:r>
              <a:rPr lang="en-US" altLang="zh-CN" dirty="0"/>
              <a:t>GPIO</a:t>
            </a:r>
            <a:r>
              <a:rPr lang="zh-CN" altLang="en-US" dirty="0"/>
              <a:t>输出</a:t>
            </a:r>
            <a:r>
              <a:rPr lang="en-US" altLang="zh-CN" dirty="0"/>
              <a:t>10us</a:t>
            </a:r>
            <a:r>
              <a:rPr lang="zh-CN" altLang="en-US" dirty="0"/>
              <a:t>高电平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回响信号引脚配置为外部中断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4424937D-5323-061A-6EEB-FFA5C37EC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400" y="3111923"/>
            <a:ext cx="2140060" cy="323867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70A35D9C-5756-0855-8712-E98E4CA358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8400" y="3870000"/>
            <a:ext cx="4388076" cy="6286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20816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698555-DD04-DBC3-2C8D-745475AC94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717D18-660F-A13A-55F6-AA426A34C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源码</a:t>
            </a:r>
          </a:p>
        </p:txBody>
      </p:sp>
      <p:pic>
        <p:nvPicPr>
          <p:cNvPr id="6" name="内容占位符 5">
            <a:extLst>
              <a:ext uri="{FF2B5EF4-FFF2-40B4-BE49-F238E27FC236}">
                <a16:creationId xmlns:a16="http://schemas.microsoft.com/office/drawing/2014/main" id="{94782024-80B7-CB24-DFF0-E9264C177F5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385996" y="1059255"/>
            <a:ext cx="4896661" cy="5798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377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E052AD-A5B5-D348-F927-99E4705D7A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MPU6050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7EF5600-9CC3-491E-D9B1-7EF656B8FB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zh-CN" dirty="0"/>
              <a:t>MPU6050</a:t>
            </a:r>
            <a:r>
              <a:rPr lang="zh-CN" altLang="en-US" dirty="0"/>
              <a:t>是一个</a:t>
            </a:r>
            <a:r>
              <a:rPr lang="en-US" altLang="zh-CN" dirty="0"/>
              <a:t>6</a:t>
            </a:r>
            <a:r>
              <a:rPr lang="zh-CN" altLang="en-US" dirty="0"/>
              <a:t>轴姿态传感器，可以测量芯片自身</a:t>
            </a:r>
            <a:r>
              <a:rPr lang="en-US" altLang="zh-CN" dirty="0"/>
              <a:t>X</a:t>
            </a:r>
            <a:r>
              <a:rPr lang="zh-CN" altLang="en-US" dirty="0"/>
              <a:t>、</a:t>
            </a:r>
            <a:r>
              <a:rPr lang="en-US" altLang="zh-CN" dirty="0"/>
              <a:t>Y</a:t>
            </a:r>
            <a:r>
              <a:rPr lang="zh-CN" altLang="en-US" dirty="0"/>
              <a:t>、</a:t>
            </a:r>
            <a:r>
              <a:rPr lang="en-US" altLang="zh-CN" dirty="0"/>
              <a:t>Z</a:t>
            </a:r>
            <a:r>
              <a:rPr lang="zh-CN" altLang="en-US" dirty="0"/>
              <a:t>轴的加速度、角速度参数，通过数据融合，可进一步得到姿态角，常应用于平衡车、飞行器等需要检测自身姿态的场景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3</a:t>
            </a:r>
            <a:r>
              <a:rPr lang="zh-CN" altLang="en-US" dirty="0"/>
              <a:t>轴加速度计（</a:t>
            </a:r>
            <a:r>
              <a:rPr lang="en-US" altLang="zh-CN" dirty="0"/>
              <a:t>Accelerometer</a:t>
            </a:r>
            <a:r>
              <a:rPr lang="zh-CN" altLang="en-US" dirty="0"/>
              <a:t>）：测量</a:t>
            </a:r>
            <a:r>
              <a:rPr lang="en-US" altLang="zh-CN" dirty="0"/>
              <a:t>X</a:t>
            </a:r>
            <a:r>
              <a:rPr lang="zh-CN" altLang="en-US" dirty="0"/>
              <a:t>、</a:t>
            </a:r>
            <a:r>
              <a:rPr lang="en-US" altLang="zh-CN" dirty="0"/>
              <a:t>Y</a:t>
            </a:r>
            <a:r>
              <a:rPr lang="zh-CN" altLang="en-US" dirty="0"/>
              <a:t>、</a:t>
            </a:r>
            <a:r>
              <a:rPr lang="en-US" altLang="zh-CN" dirty="0"/>
              <a:t>Z</a:t>
            </a:r>
            <a:r>
              <a:rPr lang="zh-CN" altLang="en-US" dirty="0"/>
              <a:t>轴的加速度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3</a:t>
            </a:r>
            <a:r>
              <a:rPr lang="zh-CN" altLang="en-US" dirty="0"/>
              <a:t>轴陀螺仪传感器（</a:t>
            </a:r>
            <a:r>
              <a:rPr lang="en-US" altLang="zh-CN" dirty="0"/>
              <a:t>Gyroscope</a:t>
            </a:r>
            <a:r>
              <a:rPr lang="zh-CN" altLang="en-US" dirty="0"/>
              <a:t>）：测量</a:t>
            </a:r>
            <a:r>
              <a:rPr lang="en-US" altLang="zh-CN" dirty="0"/>
              <a:t>X</a:t>
            </a:r>
            <a:r>
              <a:rPr lang="zh-CN" altLang="en-US" dirty="0"/>
              <a:t>、</a:t>
            </a:r>
            <a:r>
              <a:rPr lang="en-US" altLang="zh-CN" dirty="0"/>
              <a:t>Y</a:t>
            </a:r>
            <a:r>
              <a:rPr lang="zh-CN" altLang="en-US" dirty="0"/>
              <a:t>、</a:t>
            </a:r>
            <a:r>
              <a:rPr lang="en-US" altLang="zh-CN" dirty="0"/>
              <a:t>Z</a:t>
            </a:r>
            <a:r>
              <a:rPr lang="zh-CN" altLang="en-US" dirty="0"/>
              <a:t>轴的角速度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YAW</a:t>
            </a:r>
            <a:r>
              <a:rPr lang="zh-CN" altLang="en-US" dirty="0"/>
              <a:t>，</a:t>
            </a:r>
            <a:r>
              <a:rPr lang="en-US" altLang="zh-CN" dirty="0"/>
              <a:t>PITCH</a:t>
            </a:r>
            <a:r>
              <a:rPr lang="zh-CN" altLang="en-US" dirty="0"/>
              <a:t>，</a:t>
            </a:r>
            <a:r>
              <a:rPr lang="en-US" altLang="zh-CN" dirty="0"/>
              <a:t>ROLL</a:t>
            </a:r>
          </a:p>
        </p:txBody>
      </p:sp>
    </p:spTree>
    <p:extLst>
      <p:ext uri="{BB962C8B-B14F-4D97-AF65-F5344CB8AC3E}">
        <p14:creationId xmlns:p14="http://schemas.microsoft.com/office/powerpoint/2010/main" val="182181456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FDDA59E-83D7-16E6-1129-865BD579F0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IIC</a:t>
            </a:r>
            <a:r>
              <a:rPr lang="zh-CN" altLang="en-US" dirty="0"/>
              <a:t>通信协议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8ECC337-3F2C-DD41-A071-28AFCA5FA2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00" y="986590"/>
            <a:ext cx="10969200" cy="3260557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zh-CN" dirty="0"/>
              <a:t>I2C </a:t>
            </a:r>
            <a:r>
              <a:rPr lang="zh-CN" altLang="en-US" dirty="0"/>
              <a:t>通讯协议</a:t>
            </a:r>
            <a:r>
              <a:rPr lang="en-US" altLang="zh-CN" dirty="0"/>
              <a:t>(Inter</a:t>
            </a:r>
            <a:r>
              <a:rPr lang="zh-CN" altLang="en-US" dirty="0"/>
              <a:t>－</a:t>
            </a:r>
            <a:r>
              <a:rPr lang="en-US" altLang="zh-CN" dirty="0"/>
              <a:t>Integrated Circuit)</a:t>
            </a:r>
            <a:r>
              <a:rPr lang="zh-CN" altLang="en-US" dirty="0"/>
              <a:t>是由 </a:t>
            </a:r>
            <a:r>
              <a:rPr lang="en-US" altLang="zh-CN" dirty="0" err="1"/>
              <a:t>Phiilps</a:t>
            </a:r>
            <a:r>
              <a:rPr lang="en-US" altLang="zh-CN" dirty="0"/>
              <a:t> </a:t>
            </a:r>
            <a:r>
              <a:rPr lang="zh-CN" altLang="en-US" dirty="0"/>
              <a:t>公司开发的，由于它引脚少，硬件实现简单，可扩展性强，不需要 </a:t>
            </a:r>
            <a:r>
              <a:rPr lang="en-US" altLang="zh-CN" dirty="0"/>
              <a:t>USART</a:t>
            </a:r>
            <a:r>
              <a:rPr lang="zh-CN" altLang="en-US" dirty="0"/>
              <a:t>、</a:t>
            </a:r>
            <a:r>
              <a:rPr lang="en-US" altLang="zh-CN" dirty="0"/>
              <a:t>CAN </a:t>
            </a:r>
            <a:r>
              <a:rPr lang="zh-CN" altLang="en-US" dirty="0"/>
              <a:t>等通讯协议的外部收发设备（那些电平转化芯片），现在被广泛地使用在系统内多个集成电路</a:t>
            </a:r>
            <a:r>
              <a:rPr lang="en-US" altLang="zh-CN" dirty="0"/>
              <a:t>(IC)</a:t>
            </a:r>
            <a:r>
              <a:rPr lang="zh-CN" altLang="en-US" dirty="0"/>
              <a:t>间的通讯。</a:t>
            </a:r>
            <a:r>
              <a:rPr lang="en-US" altLang="zh-CN" dirty="0"/>
              <a:t>I2C</a:t>
            </a:r>
            <a:r>
              <a:rPr lang="zh-CN" altLang="en-US" dirty="0"/>
              <a:t>只有一跟数据总线 </a:t>
            </a:r>
            <a:r>
              <a:rPr lang="en-US" altLang="zh-CN" dirty="0"/>
              <a:t>SDA(Serial Data Line)</a:t>
            </a:r>
            <a:r>
              <a:rPr lang="zh-CN" altLang="en-US" dirty="0"/>
              <a:t>，串行数据总线，只能一位一位的发送数据，属于串行通信，采用半双工通信半双工通信：可以实现双向的通信，但不能在两个方向上同时进行，必须轮流交替进行，其实也可以理解成一种可以切换方向的单工通信，同一时刻必须只能一个方向传输，只需一根数据线</a:t>
            </a:r>
            <a:r>
              <a:rPr lang="en-US" altLang="zh-CN" dirty="0"/>
              <a:t>.</a:t>
            </a:r>
            <a:r>
              <a:rPr lang="zh-CN" altLang="en-US" dirty="0"/>
              <a:t>对于</a:t>
            </a:r>
            <a:r>
              <a:rPr lang="en-US" altLang="zh-CN" dirty="0"/>
              <a:t>I2C</a:t>
            </a:r>
            <a:r>
              <a:rPr lang="zh-CN" altLang="en-US" dirty="0"/>
              <a:t>通讯协议把它分为物理层和协议层物理层规定通讯系统中具有机械、电子功能部分的特性（硬件部分），确保原始数据在物理媒体的传输。协议层主要规定通讯逻辑，统一收发双方的数据打包、解包标准（软件层面）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I2C </a:t>
            </a:r>
            <a:r>
              <a:rPr lang="zh-CN" altLang="en-US" dirty="0"/>
              <a:t>通讯设备之间的常用连接方式</a:t>
            </a:r>
            <a:endParaRPr lang="en-US" altLang="zh-CN" dirty="0"/>
          </a:p>
          <a:p>
            <a:pPr marL="457200" indent="-457200">
              <a:buAutoNum type="arabicParenBoth"/>
            </a:pPr>
            <a:r>
              <a:rPr lang="zh-CN" altLang="en-US" dirty="0"/>
              <a:t>它是一个支持设备的总线。“总线”指多个设备共用的信号线。在一个 </a:t>
            </a:r>
            <a:r>
              <a:rPr lang="en-US" altLang="zh-CN" dirty="0"/>
              <a:t>I2C </a:t>
            </a:r>
            <a:r>
              <a:rPr lang="zh-CN" altLang="en-US" dirty="0"/>
              <a:t>通讯总线中，可连接多个 </a:t>
            </a:r>
            <a:r>
              <a:rPr lang="en-US" altLang="zh-CN" dirty="0"/>
              <a:t>I2C </a:t>
            </a:r>
            <a:r>
              <a:rPr lang="zh-CN" altLang="en-US" dirty="0"/>
              <a:t>通讯设备，支持多个通讯主机及多个通讯从机。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(2) </a:t>
            </a:r>
            <a:r>
              <a:rPr lang="zh-CN" altLang="en-US" dirty="0"/>
              <a:t>一个 </a:t>
            </a:r>
            <a:r>
              <a:rPr lang="en-US" altLang="zh-CN" dirty="0"/>
              <a:t>I2C </a:t>
            </a:r>
            <a:r>
              <a:rPr lang="zh-CN" altLang="en-US" dirty="0"/>
              <a:t>总线只使用两条总线线路，一条双向串行数据线</a:t>
            </a:r>
            <a:r>
              <a:rPr lang="en-US" altLang="zh-CN" dirty="0"/>
              <a:t>SDA</a:t>
            </a:r>
            <a:r>
              <a:rPr lang="zh-CN" altLang="en-US" dirty="0"/>
              <a:t>（</a:t>
            </a:r>
            <a:r>
              <a:rPr lang="en-US" altLang="zh-CN" dirty="0"/>
              <a:t>Serial Data Line </a:t>
            </a:r>
            <a:r>
              <a:rPr lang="zh-CN" altLang="en-US" dirty="0"/>
              <a:t>），一条串行时钟线</a:t>
            </a:r>
            <a:r>
              <a:rPr lang="en-US" altLang="zh-CN" dirty="0"/>
              <a:t>SCL</a:t>
            </a:r>
            <a:r>
              <a:rPr lang="zh-CN" altLang="en-US" dirty="0"/>
              <a:t>（</a:t>
            </a:r>
            <a:r>
              <a:rPr lang="en-US" altLang="zh-CN" dirty="0"/>
              <a:t>Serial Data Line </a:t>
            </a:r>
            <a:r>
              <a:rPr lang="zh-CN" altLang="en-US" dirty="0"/>
              <a:t>）。数据线即用来表示数据，时钟线用于数据收发同步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(3) </a:t>
            </a:r>
            <a:r>
              <a:rPr lang="zh-CN" altLang="en-US" dirty="0"/>
              <a:t>总线通过上拉电阻接到电源。当 </a:t>
            </a:r>
            <a:r>
              <a:rPr lang="en-US" altLang="zh-CN" dirty="0"/>
              <a:t>I2C </a:t>
            </a:r>
            <a:r>
              <a:rPr lang="zh-CN" altLang="en-US" dirty="0"/>
              <a:t>设备空闲时会输出高阻态，而当所有设备都空闲，都输出高阻态时，由上拉电阻把总线拉成高电平。</a:t>
            </a:r>
          </a:p>
        </p:txBody>
      </p:sp>
      <p:pic>
        <p:nvPicPr>
          <p:cNvPr id="4" name="图片 3">
            <a:extLst>
              <a:ext uri="{FF2B5EF4-FFF2-40B4-BE49-F238E27FC236}">
                <a16:creationId xmlns:a16="http://schemas.microsoft.com/office/drawing/2014/main" id="{B056D935-CEB1-E069-8F4E-39BCB3A3D8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1400" y="3990975"/>
            <a:ext cx="7820025" cy="2867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893715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569021-904F-52C0-A372-123B5474A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B1A47AB4-6DA8-AB13-04D5-C8C33B997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硬件</a:t>
            </a:r>
            <a:r>
              <a:rPr lang="en-US" altLang="zh-CN" dirty="0"/>
              <a:t>IIC</a:t>
            </a:r>
            <a:r>
              <a:rPr lang="zh-CN" altLang="en-US" dirty="0"/>
              <a:t>和软件</a:t>
            </a:r>
            <a:r>
              <a:rPr lang="en-US" altLang="zh-CN" dirty="0"/>
              <a:t>IIC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E3CF4AFE-5AAF-7669-07AA-25E0240937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1400" y="986590"/>
            <a:ext cx="10969200" cy="571005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zh-CN" altLang="en-US" dirty="0"/>
              <a:t>硬件</a:t>
            </a:r>
            <a:r>
              <a:rPr lang="en-US" altLang="zh-CN" dirty="0"/>
              <a:t>IIC</a:t>
            </a:r>
            <a:r>
              <a:rPr lang="zh-CN" altLang="en-US" dirty="0"/>
              <a:t>：芯片外设配置好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软件</a:t>
            </a:r>
            <a:r>
              <a:rPr lang="en-US" altLang="zh-CN" dirty="0"/>
              <a:t>IIC</a:t>
            </a:r>
            <a:r>
              <a:rPr lang="zh-CN" altLang="en-US" dirty="0"/>
              <a:t>：配置</a:t>
            </a:r>
            <a:r>
              <a:rPr lang="en-US" altLang="zh-CN" dirty="0"/>
              <a:t>GPIO</a:t>
            </a:r>
            <a:r>
              <a:rPr lang="zh-CN" altLang="en-US" dirty="0"/>
              <a:t>的高低电平转换，</a:t>
            </a:r>
            <a:r>
              <a:rPr lang="zh-CN" altLang="zh-CN" dirty="0"/>
              <a:t>生成起始信号时，需先将SCL引脚置为高电平，随后在SDA引脚上产生由高到低的跳变，最后拉低SCL电平。这一系列操作完全由程序控制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SCL</a:t>
            </a:r>
            <a:r>
              <a:rPr lang="zh-CN" altLang="en-US" dirty="0"/>
              <a:t>：串行时钟线（</a:t>
            </a:r>
            <a:r>
              <a:rPr lang="en-US" altLang="zh-CN" dirty="0"/>
              <a:t>when</a:t>
            </a:r>
            <a:r>
              <a:rPr lang="zh-CN" altLang="en-US" dirty="0"/>
              <a:t>）   </a:t>
            </a:r>
            <a:r>
              <a:rPr lang="en-US" altLang="zh-CN" dirty="0"/>
              <a:t>SDA</a:t>
            </a:r>
            <a:r>
              <a:rPr lang="zh-CN" altLang="en-US" dirty="0"/>
              <a:t>：串行数据线（</a:t>
            </a:r>
            <a:r>
              <a:rPr lang="en-US" altLang="zh-CN" dirty="0"/>
              <a:t>what</a:t>
            </a:r>
            <a:r>
              <a:rPr lang="zh-CN" altLang="en-US" dirty="0"/>
              <a:t>）</a:t>
            </a:r>
            <a:endParaRPr lang="en-US" altLang="zh-CN" dirty="0"/>
          </a:p>
          <a:p>
            <a:pPr marL="0" indent="0">
              <a:buNone/>
            </a:pPr>
            <a:endParaRPr lang="zh-CN" altLang="en-US" dirty="0"/>
          </a:p>
        </p:txBody>
      </p:sp>
      <p:graphicFrame>
        <p:nvGraphicFramePr>
          <p:cNvPr id="5" name="表格 4">
            <a:extLst>
              <a:ext uri="{FF2B5EF4-FFF2-40B4-BE49-F238E27FC236}">
                <a16:creationId xmlns:a16="http://schemas.microsoft.com/office/drawing/2014/main" id="{330421B7-06C3-71B8-7655-42069E8775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922817"/>
              </p:ext>
            </p:extLst>
          </p:nvPr>
        </p:nvGraphicFramePr>
        <p:xfrm>
          <a:off x="541839" y="3841615"/>
          <a:ext cx="10969626" cy="10287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649966">
                  <a:extLst>
                    <a:ext uri="{9D8B030D-6E8A-4147-A177-3AD203B41FA5}">
                      <a16:colId xmlns:a16="http://schemas.microsoft.com/office/drawing/2014/main" val="1610484013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1555942788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759619639"/>
                    </a:ext>
                  </a:extLst>
                </a:gridCol>
                <a:gridCol w="2773220">
                  <a:extLst>
                    <a:ext uri="{9D8B030D-6E8A-4147-A177-3AD203B41FA5}">
                      <a16:colId xmlns:a16="http://schemas.microsoft.com/office/drawing/2014/main" val="4164566789"/>
                    </a:ext>
                  </a:extLst>
                </a:gridCol>
              </a:tblGrid>
              <a:tr h="343472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信号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SCL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SDA 动作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含义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extLst>
                  <a:ext uri="{0D108BD9-81ED-4DB2-BD59-A6C34878D82A}">
                    <a16:rowId xmlns:a16="http://schemas.microsoft.com/office/drawing/2014/main" val="3679311029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起始（Start）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高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SDA 下降沿（高→低）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"我要开始通信了"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2751587687"/>
                  </a:ext>
                </a:extLst>
              </a:tr>
              <a:tr h="342646"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停止（Stop）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高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>
                          <a:effectLst/>
                        </a:rPr>
                        <a:t>SDA 上升沿（低→高）</a:t>
                      </a:r>
                      <a:endParaRPr lang="zh-CN" sz="1100" b="0" i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R="101600" marT="63500" marB="6350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38889"/>
                        </a:lnSpc>
                        <a:buNone/>
                      </a:pPr>
                      <a:r>
                        <a:rPr lang="zh-CN" sz="1100" dirty="0">
                          <a:effectLst/>
                        </a:rPr>
                        <a:t>"通信结束"</a:t>
                      </a:r>
                      <a:endParaRPr lang="zh-CN" sz="1100" b="0" i="0" dirty="0">
                        <a:solidFill>
                          <a:srgbClr val="F9FAFB"/>
                        </a:solidFill>
                        <a:effectLst/>
                        <a:latin typeface="quote-cjk-patch"/>
                      </a:endParaRPr>
                    </a:p>
                  </a:txBody>
                  <a:tcPr marL="101600" marT="63500" marB="63500" anchor="ctr"/>
                </a:tc>
                <a:extLst>
                  <a:ext uri="{0D108BD9-81ED-4DB2-BD59-A6C34878D82A}">
                    <a16:rowId xmlns:a16="http://schemas.microsoft.com/office/drawing/2014/main" val="146245282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1474087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1B935AC-337E-018B-093F-A083FBA3A7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源码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27D1ED34-798A-18CD-0487-CCE97E240C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8400" y="995881"/>
            <a:ext cx="10969200" cy="5862119"/>
          </a:xfrm>
        </p:spPr>
        <p:txBody>
          <a:bodyPr>
            <a:normAutofit fontScale="47500" lnSpcReduction="20000"/>
          </a:bodyPr>
          <a:lstStyle/>
          <a:p>
            <a:pPr marL="0" indent="0">
              <a:buNone/>
            </a:pPr>
            <a:r>
              <a:rPr lang="en-US" altLang="zh-CN" dirty="0"/>
              <a:t>#include "</a:t>
            </a:r>
            <a:r>
              <a:rPr lang="en-US" altLang="zh-CN" dirty="0" err="1"/>
              <a:t>IIC.h</a:t>
            </a:r>
            <a:r>
              <a:rPr lang="en-US" altLang="zh-CN" dirty="0"/>
              <a:t>"</a:t>
            </a:r>
          </a:p>
          <a:p>
            <a:pPr marL="0" indent="0">
              <a:buNone/>
            </a:pPr>
            <a:r>
              <a:rPr lang="en-US" altLang="zh-CN" dirty="0"/>
              <a:t>#include "</a:t>
            </a:r>
            <a:r>
              <a:rPr lang="en-US" altLang="zh-CN" dirty="0" err="1"/>
              <a:t>inv_mpu.h</a:t>
            </a:r>
            <a:r>
              <a:rPr lang="en-US" altLang="zh-CN" dirty="0"/>
              <a:t>"</a:t>
            </a:r>
          </a:p>
          <a:p>
            <a:pPr marL="0" indent="0">
              <a:buNone/>
            </a:pPr>
            <a:r>
              <a:rPr lang="en-US" altLang="zh-CN" dirty="0"/>
              <a:t>#include "</a:t>
            </a:r>
            <a:r>
              <a:rPr lang="en-US" altLang="zh-CN" dirty="0" err="1"/>
              <a:t>inv_mpu_dmp_motion_driver.h</a:t>
            </a:r>
            <a:r>
              <a:rPr lang="en-US" altLang="zh-CN" dirty="0"/>
              <a:t>"</a:t>
            </a:r>
          </a:p>
          <a:p>
            <a:pPr marL="0" indent="0">
              <a:buNone/>
            </a:pPr>
            <a:r>
              <a:rPr lang="en-US" altLang="zh-CN" dirty="0"/>
              <a:t>#include "mpu6050.h“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float </a:t>
            </a:r>
            <a:r>
              <a:rPr lang="en-US" altLang="zh-CN" dirty="0" err="1"/>
              <a:t>pitch,roll,yaw</a:t>
            </a:r>
            <a:r>
              <a:rPr lang="en-US" altLang="zh-CN" dirty="0"/>
              <a:t>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err="1"/>
              <a:t>MPU_Init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r>
              <a:rPr lang="en-US" altLang="zh-CN" dirty="0" err="1"/>
              <a:t>mpu_dmp_init</a:t>
            </a:r>
            <a:r>
              <a:rPr lang="en-US" altLang="zh-CN" dirty="0"/>
              <a:t>();</a:t>
            </a:r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en-US" altLang="zh-CN" dirty="0" err="1"/>
              <a:t>HAL_Delay</a:t>
            </a:r>
            <a:r>
              <a:rPr lang="en-US" altLang="zh-CN" dirty="0"/>
              <a:t>(10);</a:t>
            </a:r>
          </a:p>
          <a:p>
            <a:pPr marL="0" indent="0">
              <a:buNone/>
            </a:pPr>
            <a:r>
              <a:rPr lang="en-US" altLang="zh-CN" dirty="0" err="1"/>
              <a:t>mpu_dmp_get_data</a:t>
            </a:r>
            <a:r>
              <a:rPr lang="en-US" altLang="zh-CN" dirty="0"/>
              <a:t>(&amp;</a:t>
            </a:r>
            <a:r>
              <a:rPr lang="en-US" altLang="zh-CN" dirty="0" err="1"/>
              <a:t>pitch,&amp;roll,&amp;yaw</a:t>
            </a:r>
            <a:r>
              <a:rPr lang="en-US" altLang="zh-CN" dirty="0"/>
              <a:t>);</a:t>
            </a:r>
          </a:p>
          <a:p>
            <a:pPr marL="0" indent="0">
              <a:buNone/>
            </a:pPr>
            <a:r>
              <a:rPr lang="en-US" altLang="zh-CN" dirty="0" err="1"/>
              <a:t>sprintf</a:t>
            </a:r>
            <a:r>
              <a:rPr lang="en-US" altLang="zh-CN" dirty="0"/>
              <a:t>((char*)</a:t>
            </a:r>
            <a:r>
              <a:rPr lang="en-US" altLang="zh-CN" dirty="0" err="1"/>
              <a:t>display_buf</a:t>
            </a:r>
            <a:r>
              <a:rPr lang="en-US" altLang="zh-CN" dirty="0"/>
              <a:t>, "pitch:%.2f", pitch);</a:t>
            </a:r>
          </a:p>
          <a:p>
            <a:pPr marL="0" indent="0">
              <a:buNone/>
            </a:pPr>
            <a:r>
              <a:rPr lang="en-US" altLang="zh-CN" dirty="0" err="1"/>
              <a:t>OLED_ShowString</a:t>
            </a:r>
            <a:r>
              <a:rPr lang="en-US" altLang="zh-CN" dirty="0"/>
              <a:t> (0,2,display_buf, 16) ;</a:t>
            </a:r>
          </a:p>
          <a:p>
            <a:pPr marL="0" indent="0">
              <a:buNone/>
            </a:pPr>
            <a:r>
              <a:rPr lang="en-US" altLang="zh-CN" dirty="0" err="1"/>
              <a:t>sprintf</a:t>
            </a:r>
            <a:r>
              <a:rPr lang="en-US" altLang="zh-CN" dirty="0"/>
              <a:t>((char*)</a:t>
            </a:r>
            <a:r>
              <a:rPr lang="en-US" altLang="zh-CN" dirty="0" err="1"/>
              <a:t>display_buf</a:t>
            </a:r>
            <a:r>
              <a:rPr lang="en-US" altLang="zh-CN" dirty="0"/>
              <a:t>, "roll:%.2f", roll);</a:t>
            </a:r>
          </a:p>
          <a:p>
            <a:pPr marL="0" indent="0">
              <a:buNone/>
            </a:pPr>
            <a:r>
              <a:rPr lang="en-US" altLang="zh-CN" dirty="0" err="1"/>
              <a:t>OLED_ShowString</a:t>
            </a:r>
            <a:r>
              <a:rPr lang="en-US" altLang="zh-CN" dirty="0"/>
              <a:t> (0,4,display_buf, 16) ;</a:t>
            </a:r>
          </a:p>
          <a:p>
            <a:pPr marL="0" indent="0">
              <a:buNone/>
            </a:pPr>
            <a:r>
              <a:rPr lang="en-US" altLang="zh-CN" dirty="0" err="1"/>
              <a:t>sprintf</a:t>
            </a:r>
            <a:r>
              <a:rPr lang="en-US" altLang="zh-CN" dirty="0"/>
              <a:t>((char*)</a:t>
            </a:r>
            <a:r>
              <a:rPr lang="en-US" altLang="zh-CN" dirty="0" err="1"/>
              <a:t>display_buf</a:t>
            </a:r>
            <a:r>
              <a:rPr lang="en-US" altLang="zh-CN" dirty="0"/>
              <a:t>, "yaw:%.2f", yaw);</a:t>
            </a:r>
          </a:p>
          <a:p>
            <a:pPr marL="0" indent="0">
              <a:buNone/>
            </a:pPr>
            <a:r>
              <a:rPr lang="en-US" altLang="zh-CN" dirty="0" err="1"/>
              <a:t>OLED_ShowString</a:t>
            </a:r>
            <a:r>
              <a:rPr lang="en-US" altLang="zh-CN" dirty="0"/>
              <a:t> (0,6,display_buf, 16) ;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81533310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1AC077-F1EC-DD90-50CB-029B58E81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PWM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7E4908A-D5A3-8CDF-5BCA-05DD7A177A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491" y="983406"/>
            <a:ext cx="10969200" cy="4249497"/>
          </a:xfrm>
        </p:spPr>
        <p:txBody>
          <a:bodyPr/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altLang="zh-CN" dirty="0"/>
              <a:t>PWM</a:t>
            </a:r>
            <a:r>
              <a:rPr lang="zh-CN" altLang="en-US" dirty="0"/>
              <a:t>（</a:t>
            </a:r>
            <a:r>
              <a:rPr lang="en-US" altLang="zh-CN" dirty="0"/>
              <a:t>Pulse Width Modulation</a:t>
            </a:r>
            <a:r>
              <a:rPr lang="zh-CN" altLang="en-US" dirty="0"/>
              <a:t>）脉冲宽度调制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在具有惯性的系统中，可以通过对一系列脉冲的宽度进行调制，来等效地获得所需要的模拟参量，常应用于电机控速等领域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频率</a:t>
            </a:r>
            <a:r>
              <a:rPr lang="en-US" altLang="zh-CN" dirty="0"/>
              <a:t>Freq= HCLK/(PCS+1)(ARR+1) = 1 / T</a:t>
            </a:r>
            <a:r>
              <a:rPr lang="en-US" altLang="zh-CN" baseline="-25000" dirty="0"/>
              <a:t>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dirty="0"/>
              <a:t>占空比</a:t>
            </a:r>
            <a:r>
              <a:rPr lang="en-US" altLang="zh-CN" dirty="0"/>
              <a:t>Duty= CCR / (ARR</a:t>
            </a:r>
            <a:r>
              <a:rPr lang="zh-CN" altLang="en-US" dirty="0"/>
              <a:t> </a:t>
            </a:r>
            <a:r>
              <a:rPr lang="en-US" altLang="zh-CN" dirty="0"/>
              <a:t>+ 1)= T</a:t>
            </a:r>
            <a:r>
              <a:rPr lang="en-US" altLang="zh-CN" baseline="-25000" dirty="0"/>
              <a:t>ON </a:t>
            </a:r>
            <a:r>
              <a:rPr lang="en-US" altLang="zh-CN" dirty="0"/>
              <a:t>/ T</a:t>
            </a:r>
            <a:r>
              <a:rPr lang="en-US" altLang="zh-CN" baseline="-25000" dirty="0"/>
              <a:t>S </a:t>
            </a:r>
            <a:endParaRPr lang="en-US" altLang="zh-CN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altLang="zh-CN" baseline="-25000" dirty="0"/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B348B00-269E-E357-0444-613D1C71EB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4884" y="4356320"/>
            <a:ext cx="4974605" cy="250168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9E9A81FE-D7A1-1081-E57E-69418B740962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476" r="17058" b="31270"/>
          <a:stretch/>
        </p:blipFill>
        <p:spPr>
          <a:xfrm>
            <a:off x="6595110" y="4194960"/>
            <a:ext cx="4581314" cy="250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67292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0416A1-46BD-2703-5A30-BFAA76232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舵机驱动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460F434-A997-E3D1-AA19-CA9018DBD4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942392"/>
            <a:ext cx="12192000" cy="5915608"/>
          </a:xfrm>
        </p:spPr>
        <p:txBody>
          <a:bodyPr>
            <a:normAutofit/>
          </a:bodyPr>
          <a:lstStyle/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舵机是一种根据输入</a:t>
            </a:r>
            <a:r>
              <a:rPr lang="en-US" altLang="zh-CN" sz="1800" dirty="0"/>
              <a:t>PWM</a:t>
            </a:r>
            <a:r>
              <a:rPr lang="zh-CN" altLang="en-US" sz="1800" dirty="0"/>
              <a:t>信号占空比来控制输出角度的装置</a:t>
            </a:r>
            <a:endParaRPr lang="en-US" altLang="zh-CN" sz="18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输入</a:t>
            </a:r>
            <a:r>
              <a:rPr lang="en-US" altLang="zh-CN" sz="1800" dirty="0"/>
              <a:t>PWM</a:t>
            </a:r>
            <a:r>
              <a:rPr lang="zh-CN" altLang="en-US" sz="1800" dirty="0"/>
              <a:t>信号要求：周期为</a:t>
            </a:r>
            <a:r>
              <a:rPr lang="en-US" altLang="zh-CN" sz="1800" dirty="0"/>
              <a:t>20ms</a:t>
            </a:r>
            <a:r>
              <a:rPr lang="zh-CN" altLang="en-US" sz="1800" dirty="0"/>
              <a:t>，高电平宽度为</a:t>
            </a:r>
            <a:r>
              <a:rPr lang="en-US" altLang="zh-CN" sz="1800" dirty="0"/>
              <a:t>0.5ms~2.5ms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zh-CN" altLang="en-US" sz="1800" dirty="0"/>
              <a:t>即</a:t>
            </a:r>
            <a:r>
              <a:rPr lang="en-US" altLang="zh-CN" sz="1800" dirty="0"/>
              <a:t>Freq= HCLK/(PCS+1)(ARR+1) =1 / T</a:t>
            </a:r>
            <a:r>
              <a:rPr lang="en-US" altLang="zh-CN" sz="1800" baseline="-25000" dirty="0"/>
              <a:t>S</a:t>
            </a:r>
            <a:r>
              <a:rPr lang="en-US" altLang="zh-CN" sz="1800" dirty="0"/>
              <a:t>=50Hz</a:t>
            </a:r>
          </a:p>
        </p:txBody>
      </p:sp>
      <p:pic>
        <p:nvPicPr>
          <p:cNvPr id="8" name="Picture 10" descr="https://img0.baidu.com/it/u=2669513282,929330867&amp;fm=253&amp;fmt=auto&amp;app=138&amp;f=JPEG?w=500&amp;h=500">
            <a:extLst>
              <a:ext uri="{FF2B5EF4-FFF2-40B4-BE49-F238E27FC236}">
                <a16:creationId xmlns:a16="http://schemas.microsoft.com/office/drawing/2014/main" id="{539A6F8D-5004-CACE-CF08-165648EA0A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496" y="2532184"/>
            <a:ext cx="3383424" cy="338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2" descr="https://img1.baidu.com/it/u=3615405252,2060650159&amp;fm=253&amp;fmt=auto&amp;app=138&amp;f=JPEG?w=500&amp;h=667">
            <a:extLst>
              <a:ext uri="{FF2B5EF4-FFF2-40B4-BE49-F238E27FC236}">
                <a16:creationId xmlns:a16="http://schemas.microsoft.com/office/drawing/2014/main" id="{4D965CEA-4882-5D4F-A36C-212545110B4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471" t="13711" r="3573" b="4814"/>
          <a:stretch/>
        </p:blipFill>
        <p:spPr bwMode="auto">
          <a:xfrm>
            <a:off x="4362956" y="2532184"/>
            <a:ext cx="2862549" cy="338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3" name="Picture 6" descr="https://gimg2.baidu.com/image_search/src=http%3A%2F%2Fwww.chinabaike.com%2Fuploads%2Fallimg%2F110411%2F2330511418-1.jpg&amp;refer=http%3A%2F%2Fwww.chinabaike.com&amp;app=2002&amp;size=f9999,10000&amp;q=a80&amp;n=0&amp;g=0n&amp;fmt=jpeg?sec=1646831977&amp;t=d31e8ec4273de9da0a251316a9982c0b">
            <a:extLst>
              <a:ext uri="{FF2B5EF4-FFF2-40B4-BE49-F238E27FC236}">
                <a16:creationId xmlns:a16="http://schemas.microsoft.com/office/drawing/2014/main" id="{E5967805-B31B-1A10-C078-F0BA68BDD97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97" r="3964" b="8336"/>
          <a:stretch/>
        </p:blipFill>
        <p:spPr bwMode="auto">
          <a:xfrm>
            <a:off x="7882910" y="2532184"/>
            <a:ext cx="3383646" cy="338342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520044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49D8784-8C47-739F-D129-92A32DA67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配置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1DDD4CD-D75A-39C3-E108-75F5DFDB2B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zh-CN" altLang="en-US" dirty="0"/>
              <a:t>打开定时器；打开内部时钟（</a:t>
            </a:r>
            <a:r>
              <a:rPr lang="zh-CN" altLang="zh-CN" dirty="0"/>
              <a:t>“内部时钟”就是用芯片自己的 72MHz 总线时钟给定时器计数。 PWM 要输出精确的 50Hz，必须用内部这个稳定的时钟源；外部时钟是给“计数外部脉冲”这类特殊场景用的。</a:t>
            </a:r>
            <a:r>
              <a:rPr lang="zh-CN" altLang="en-US" dirty="0"/>
              <a:t>）；选择一个通道；配置参数</a:t>
            </a:r>
            <a:r>
              <a:rPr lang="en-US" altLang="zh-CN" dirty="0"/>
              <a:t>PCS=71</a:t>
            </a:r>
            <a:r>
              <a:rPr lang="zh-CN" altLang="en-US" dirty="0"/>
              <a:t>，</a:t>
            </a:r>
            <a:r>
              <a:rPr lang="en-US" altLang="zh-CN" dirty="0"/>
              <a:t>ARR=19999</a:t>
            </a:r>
            <a:r>
              <a:rPr lang="zh-CN" altLang="en-US" dirty="0"/>
              <a:t>，计数模式向上计数，</a:t>
            </a:r>
            <a:r>
              <a:rPr lang="en-US" altLang="zh-CN" dirty="0"/>
              <a:t>Pulse=1500us</a:t>
            </a:r>
            <a:r>
              <a:rPr lang="zh-CN" altLang="en-US" dirty="0"/>
              <a:t>（高电平持续时间初始</a:t>
            </a:r>
            <a:r>
              <a:rPr lang="en-US" altLang="zh-CN" dirty="0"/>
              <a:t>1.5ms=</a:t>
            </a:r>
            <a:r>
              <a:rPr lang="zh-CN" altLang="en-US" dirty="0"/>
              <a:t>中位）</a:t>
            </a:r>
          </a:p>
        </p:txBody>
      </p:sp>
    </p:spTree>
    <p:extLst>
      <p:ext uri="{BB962C8B-B14F-4D97-AF65-F5344CB8AC3E}">
        <p14:creationId xmlns:p14="http://schemas.microsoft.com/office/powerpoint/2010/main" val="37509678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图片 8">
            <a:extLst>
              <a:ext uri="{FF2B5EF4-FFF2-40B4-BE49-F238E27FC236}">
                <a16:creationId xmlns:a16="http://schemas.microsoft.com/office/drawing/2014/main" id="{2CB1A6CF-49A2-B9DE-1DED-E0F93A655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212913"/>
            <a:ext cx="8687246" cy="3645087"/>
          </a:xfrm>
          <a:prstGeom prst="rect">
            <a:avLst/>
          </a:prstGeom>
        </p:spPr>
      </p:pic>
      <p:sp>
        <p:nvSpPr>
          <p:cNvPr id="2" name="标题 1">
            <a:extLst>
              <a:ext uri="{FF2B5EF4-FFF2-40B4-BE49-F238E27FC236}">
                <a16:creationId xmlns:a16="http://schemas.microsoft.com/office/drawing/2014/main" id="{E6361312-A025-BFEF-8E16-9CD63A9199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封装函数</a:t>
            </a:r>
          </a:p>
        </p:txBody>
      </p:sp>
      <p:pic>
        <p:nvPicPr>
          <p:cNvPr id="11" name="内容占位符 10">
            <a:extLst>
              <a:ext uri="{FF2B5EF4-FFF2-40B4-BE49-F238E27FC236}">
                <a16:creationId xmlns:a16="http://schemas.microsoft.com/office/drawing/2014/main" id="{7ABACA47-2B9D-4121-C1A5-FF110D49C25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7867428" y="971139"/>
            <a:ext cx="4324572" cy="3149762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0689DF01-4397-550D-6C98-BFC0009B93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1585888"/>
            <a:ext cx="1689187" cy="908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6920113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103C13-DAEC-5520-CBCB-F71EE5489B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TB6612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4AFB6A-79ED-EA29-79A1-F823D9D2E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1200" y="1049400"/>
            <a:ext cx="12040800" cy="58086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dirty="0"/>
              <a:t>TB6612</a:t>
            </a:r>
            <a:r>
              <a:rPr lang="zh-CN" altLang="en-US" sz="1800" dirty="0"/>
              <a:t>是一款双路</a:t>
            </a:r>
            <a:r>
              <a:rPr lang="en-US" altLang="zh-CN" sz="1800" dirty="0"/>
              <a:t>H</a:t>
            </a:r>
            <a:r>
              <a:rPr lang="zh-CN" altLang="en-US" sz="1800" dirty="0"/>
              <a:t>桥型的直流电机驱动芯片，可以驱动两个直流电机并且控制其转速和方向</a:t>
            </a: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zh-CN" altLang="en-US" sz="1800" dirty="0"/>
              <a:t>如果</a:t>
            </a:r>
          </a:p>
        </p:txBody>
      </p:sp>
      <p:pic>
        <p:nvPicPr>
          <p:cNvPr id="6" name="图片 5">
            <a:extLst>
              <a:ext uri="{FF2B5EF4-FFF2-40B4-BE49-F238E27FC236}">
                <a16:creationId xmlns:a16="http://schemas.microsoft.com/office/drawing/2014/main" id="{06FAB0E2-17AB-654C-67A7-4F57A8DF4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5400000">
            <a:off x="172540" y="1590843"/>
            <a:ext cx="4942427" cy="4985108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D69A1006-311C-0B94-784A-E19AEA2D14C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498791"/>
            <a:ext cx="4417648" cy="53592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69865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946F0A-D946-E349-F76D-2F0C3D7149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源码</a:t>
            </a:r>
          </a:p>
        </p:txBody>
      </p:sp>
      <p:pic>
        <p:nvPicPr>
          <p:cNvPr id="5" name="内容占位符 4">
            <a:extLst>
              <a:ext uri="{FF2B5EF4-FFF2-40B4-BE49-F238E27FC236}">
                <a16:creationId xmlns:a16="http://schemas.microsoft.com/office/drawing/2014/main" id="{3DE4C9FA-C8DE-9589-0D31-F6285C40A1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626115" y="988999"/>
            <a:ext cx="4565885" cy="3626036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B7CC94DF-0104-0752-A6CB-CD3E0258E7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88999"/>
            <a:ext cx="4940554" cy="5789691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A6CAB00-3887-6DC5-0A7C-1DF16B646C4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37055" y="4615035"/>
            <a:ext cx="3054507" cy="1606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63791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F4F425C-F38E-8690-1CE6-C838721946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霍尔编码器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5BF4D23-00D6-E6DE-A2C5-26D8FECE71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zh-CN" sz="1800" dirty="0"/>
              <a:t>structuring element</a:t>
            </a:r>
            <a:r>
              <a:rPr lang="zh-CN" altLang="en-US" sz="1800" dirty="0"/>
              <a:t>：是形态学中用于进行形态学运算的一种预定义的、小型的形状</a:t>
            </a:r>
            <a:endParaRPr lang="en-US" altLang="zh-CN" sz="1800" dirty="0"/>
          </a:p>
          <a:p>
            <a:pPr marL="0" indent="0">
              <a:buNone/>
            </a:pPr>
            <a:endParaRPr lang="en-US" altLang="zh-CN" sz="1800" dirty="0"/>
          </a:p>
          <a:p>
            <a:pPr marL="0" indent="0">
              <a:buNone/>
            </a:pPr>
            <a:r>
              <a:rPr lang="en-US" altLang="zh-CN" sz="1800" dirty="0"/>
              <a:t>Miss:</a:t>
            </a:r>
            <a:r>
              <a:rPr lang="zh-CN" altLang="en-US" sz="1800" dirty="0"/>
              <a:t>如果图像中没有一个像素与结构元素匹配，则称为</a:t>
            </a:r>
            <a:r>
              <a:rPr lang="en-US" altLang="zh-CN" sz="1800" dirty="0"/>
              <a:t>Miss</a:t>
            </a:r>
            <a:r>
              <a:rPr lang="zh-CN" altLang="en-US" sz="1800" dirty="0"/>
              <a:t>。</a:t>
            </a:r>
          </a:p>
          <a:p>
            <a:pPr marL="0" indent="0">
              <a:buNone/>
            </a:pPr>
            <a:r>
              <a:rPr lang="en-US" altLang="zh-CN" sz="1800" dirty="0"/>
              <a:t>Hit:</a:t>
            </a:r>
            <a:r>
              <a:rPr lang="zh-CN" altLang="en-US" sz="1800" dirty="0"/>
              <a:t>当结构元素的至少一个像素与图像像素重叠时，称为</a:t>
            </a:r>
            <a:r>
              <a:rPr lang="en-US" altLang="zh-CN" sz="1800" dirty="0"/>
              <a:t>Hit</a:t>
            </a:r>
            <a:r>
              <a:rPr lang="zh-CN" altLang="en-US" sz="1800" dirty="0"/>
              <a:t>。</a:t>
            </a:r>
          </a:p>
          <a:p>
            <a:pPr marL="0" indent="0">
              <a:buNone/>
            </a:pPr>
            <a:r>
              <a:rPr lang="en-US" altLang="zh-CN" sz="1800" dirty="0"/>
              <a:t>Fit:</a:t>
            </a:r>
            <a:r>
              <a:rPr lang="zh-CN" altLang="en-US" sz="1800" dirty="0"/>
              <a:t>如果结构元素的所有像素都与图像匹配，则称为</a:t>
            </a:r>
            <a:r>
              <a:rPr lang="en-US" altLang="zh-CN" sz="1800" dirty="0"/>
              <a:t>Fit</a:t>
            </a:r>
            <a:r>
              <a:rPr lang="zh-CN" altLang="en-US" sz="1800" dirty="0"/>
              <a:t>。</a:t>
            </a:r>
            <a:endParaRPr lang="en-US" altLang="zh-CN" sz="1800" dirty="0"/>
          </a:p>
          <a:p>
            <a:pPr marL="0" indent="0">
              <a:buNone/>
            </a:pPr>
            <a:endParaRPr lang="zh-CN" altLang="en-US" sz="1800" dirty="0"/>
          </a:p>
        </p:txBody>
      </p:sp>
    </p:spTree>
    <p:extLst>
      <p:ext uri="{BB962C8B-B14F-4D97-AF65-F5344CB8AC3E}">
        <p14:creationId xmlns:p14="http://schemas.microsoft.com/office/powerpoint/2010/main" val="24475175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95D2FF2-0B07-3C2C-C0C5-56B798FD8E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腐蚀，膨胀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DC7D4C3-4EA3-C564-7B15-8BEE0CD4EC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9797" y="1124439"/>
            <a:ext cx="2885714" cy="5380952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081D81FD-1F15-87BB-E82D-734A7B2B2F9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2985" y="1257772"/>
            <a:ext cx="2819048" cy="52476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0578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5C5D5DE-FDC9-0028-B91A-CE56F2382C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</a:t>
            </a:r>
            <a:r>
              <a:rPr lang="en-US" altLang="zh-CN" dirty="0"/>
              <a:t>/</a:t>
            </a:r>
            <a:r>
              <a:rPr lang="zh-CN" altLang="en-US" dirty="0"/>
              <a:t>闭运算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EABAAA34-4714-A30D-34F8-3F25C87A18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64" y="1330063"/>
            <a:ext cx="5104762" cy="504761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1B62044A-6D84-13E7-2293-73CC0C02F3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1476" y="1368158"/>
            <a:ext cx="4790476" cy="50095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6753744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6C72CC-8DBD-4A27-E3F9-86748D7206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腐蚀，膨胀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2038B42-5183-3C6D-FAA9-044878DD20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352283"/>
            <a:ext cx="5247619" cy="2685714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F506BCBC-6CC6-6E1A-5FE2-FB5337C77C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955" y="1352283"/>
            <a:ext cx="5257143" cy="2657143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EF648631-AF2A-1598-F672-8D8CC1719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6151" y="4203982"/>
            <a:ext cx="9228571" cy="22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93761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F8588-A574-F99A-8891-673982F79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开</a:t>
            </a:r>
            <a:r>
              <a:rPr lang="en-US" altLang="zh-CN" dirty="0"/>
              <a:t>/</a:t>
            </a:r>
            <a:r>
              <a:rPr lang="zh-CN" altLang="en-US" dirty="0"/>
              <a:t>闭运算，礼帽</a:t>
            </a:r>
            <a:r>
              <a:rPr lang="en-US" altLang="zh-CN" dirty="0"/>
              <a:t>/</a:t>
            </a:r>
            <a:r>
              <a:rPr lang="zh-CN" altLang="en-US" dirty="0"/>
              <a:t>黑帽操作</a:t>
            </a:r>
          </a:p>
        </p:txBody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A8ABF004-EEE2-6BA1-594A-B0C0BEA686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210" y="1177636"/>
            <a:ext cx="5991225" cy="2895600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237B78D5-8B41-2BEC-4C6E-1924306BBE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2974" y="4230541"/>
            <a:ext cx="9219048" cy="2276190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59467051-69C5-942C-416F-77E1CDE85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4628" y="1018399"/>
            <a:ext cx="5205008" cy="3405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67728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本占位符 3">
            <a:extLst>
              <a:ext uri="{FF2B5EF4-FFF2-40B4-BE49-F238E27FC236}">
                <a16:creationId xmlns:a16="http://schemas.microsoft.com/office/drawing/2014/main" id="{4A8D2D21-FB25-A08A-5DDA-A6427F4017F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zh-CN" altLang="en-US" dirty="0"/>
              <a:t>下节预告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BE900365-CD76-2A22-FF2B-668CF6B0D36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zh-CN" altLang="en-US" dirty="0"/>
              <a:t>不咕</a:t>
            </a:r>
          </a:p>
        </p:txBody>
      </p:sp>
    </p:spTree>
    <p:extLst>
      <p:ext uri="{BB962C8B-B14F-4D97-AF65-F5344CB8AC3E}">
        <p14:creationId xmlns:p14="http://schemas.microsoft.com/office/powerpoint/2010/main" val="252396901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D1AD7E8-4BA9-56DE-48D8-925170FE8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拓展阅读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3F60FD0-EB36-3404-8B69-ABF5C7223D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altLang="zh-CN" sz="2400" dirty="0"/>
              <a:t>OpenCV</a:t>
            </a:r>
            <a:r>
              <a:rPr lang="zh-CN" altLang="en-US" sz="2400" dirty="0"/>
              <a:t>的内容是多到讲不完的，因此这里仅介绍基础概念，方便后续自学。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可能需要用到的还有：霍夫变换（直线、线段与圆检测，概率优化），模板匹配，查找轮廓</a:t>
            </a:r>
            <a:r>
              <a:rPr lang="en-US" altLang="zh-CN" dirty="0"/>
              <a:t>Canny</a:t>
            </a:r>
            <a:r>
              <a:rPr lang="zh-CN" altLang="en-US" dirty="0"/>
              <a:t>等等</a:t>
            </a:r>
            <a:endParaRPr lang="en-US" altLang="zh-CN" dirty="0"/>
          </a:p>
          <a:p>
            <a:pPr marL="0" indent="0">
              <a:buNone/>
            </a:pP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这两节课的不额外布置作业，但要上手写代码，学会查阅各种资料，将课件里的东西复现。有处理不了的问题可以</a:t>
            </a:r>
            <a:r>
              <a:rPr lang="en-US" altLang="zh-CN" dirty="0"/>
              <a:t>QQ</a:t>
            </a:r>
            <a:r>
              <a:rPr lang="zh-CN" altLang="en-US" dirty="0"/>
              <a:t>找我。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最好的教程永远是官方文档，但可能有语言障碍。</a:t>
            </a:r>
            <a:endParaRPr lang="en-US" altLang="zh-CN" dirty="0"/>
          </a:p>
          <a:p>
            <a:pPr marL="0" indent="0">
              <a:buNone/>
            </a:pPr>
            <a:r>
              <a:rPr lang="en-US" altLang="zh-CN" dirty="0"/>
              <a:t>OpenCV</a:t>
            </a:r>
            <a:r>
              <a:rPr lang="zh-CN" altLang="en-US" dirty="0"/>
              <a:t>在</a:t>
            </a:r>
            <a:r>
              <a:rPr lang="en-US" altLang="zh-CN" dirty="0"/>
              <a:t>ROS2</a:t>
            </a:r>
            <a:r>
              <a:rPr lang="zh-CN" altLang="en-US" dirty="0"/>
              <a:t>中</a:t>
            </a:r>
            <a:endParaRPr lang="en-US" altLang="zh-CN" dirty="0"/>
          </a:p>
          <a:p>
            <a:pPr marL="0" indent="0">
              <a:buNone/>
            </a:pPr>
            <a:r>
              <a:rPr lang="zh-CN" altLang="en-US" dirty="0"/>
              <a:t>下节课会快速过一遍</a:t>
            </a:r>
            <a:r>
              <a:rPr lang="en-US" altLang="zh-CN" dirty="0"/>
              <a:t>ROS2</a:t>
            </a:r>
            <a:r>
              <a:rPr lang="zh-CN" altLang="en-US" dirty="0"/>
              <a:t>，以及的使用</a:t>
            </a:r>
          </a:p>
        </p:txBody>
      </p:sp>
    </p:spTree>
    <p:extLst>
      <p:ext uri="{BB962C8B-B14F-4D97-AF65-F5344CB8AC3E}">
        <p14:creationId xmlns:p14="http://schemas.microsoft.com/office/powerpoint/2010/main" val="34948056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B11C016-8D2E-0C5F-116F-F81956F1B5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拓展阅读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649BB7-F015-54C8-DC6D-88971D69BC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altLang="zh-CN" dirty="0">
                <a:hlinkClick r:id="rId2"/>
              </a:rPr>
              <a:t>OpenCV: OpenCV Tutorials</a:t>
            </a:r>
            <a:endParaRPr lang="pt-BR" altLang="zh-CN" dirty="0"/>
          </a:p>
          <a:p>
            <a:endParaRPr lang="pt-BR" altLang="zh-CN" dirty="0"/>
          </a:p>
          <a:p>
            <a:r>
              <a:rPr lang="en-US" altLang="zh-CN" dirty="0">
                <a:hlinkClick r:id="rId3"/>
              </a:rPr>
              <a:t>Convolutional Neural Networks - Basics · Machine Learning Notebook</a:t>
            </a:r>
            <a:endParaRPr lang="pt-BR" altLang="zh-CN" dirty="0"/>
          </a:p>
          <a:p>
            <a:r>
              <a:rPr lang="en-US" altLang="zh-CN" dirty="0">
                <a:hlinkClick r:id="rId4"/>
              </a:rPr>
              <a:t>OpenCV-C++ </a:t>
            </a:r>
            <a:r>
              <a:rPr lang="zh-CN" altLang="en-US" dirty="0">
                <a:hlinkClick r:id="rId4"/>
              </a:rPr>
              <a:t>图像形态学操作 </a:t>
            </a:r>
            <a:r>
              <a:rPr lang="en-US" altLang="zh-CN" dirty="0">
                <a:hlinkClick r:id="rId4"/>
              </a:rPr>
              <a:t>- chenzhen0530 - </a:t>
            </a:r>
            <a:r>
              <a:rPr lang="zh-CN" altLang="en-US" dirty="0">
                <a:hlinkClick r:id="rId4"/>
              </a:rPr>
              <a:t>博客园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57064155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80682E9-3EBF-29E2-9CD2-6186D12F71C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zh-CN" dirty="0"/>
              <a:t>Thanks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FF4EB747-D104-FE39-9A24-E85E81C255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071-</a:t>
            </a:r>
            <a:r>
              <a:rPr lang="zh-CN" altLang="en-US" dirty="0"/>
              <a:t>视觉组</a:t>
            </a:r>
          </a:p>
        </p:txBody>
      </p:sp>
    </p:spTree>
    <p:extLst>
      <p:ext uri="{BB962C8B-B14F-4D97-AF65-F5344CB8AC3E}">
        <p14:creationId xmlns:p14="http://schemas.microsoft.com/office/powerpoint/2010/main" val="1766179317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NWZkMTQ4NGU3ZjA5OTNmZjFiMTdlYjliN2IxZGQ2NTEifQ==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6175</TotalTime>
  <Words>4320</Words>
  <Application>Microsoft Office PowerPoint</Application>
  <PresentationFormat>宽屏</PresentationFormat>
  <Paragraphs>242</Paragraphs>
  <Slides>41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41</vt:i4>
      </vt:variant>
    </vt:vector>
  </HeadingPairs>
  <TitlesOfParts>
    <vt:vector size="49" baseType="lpstr">
      <vt:lpstr>quote-cjk-patch</vt:lpstr>
      <vt:lpstr>等线</vt:lpstr>
      <vt:lpstr>方正粗黑宋简体</vt:lpstr>
      <vt:lpstr>微软雅黑</vt:lpstr>
      <vt:lpstr>Arial</vt:lpstr>
      <vt:lpstr>Calibri</vt:lpstr>
      <vt:lpstr>Wingdings</vt:lpstr>
      <vt:lpstr>Office 主题​​</vt:lpstr>
      <vt:lpstr>071-电控组 第一次培训</vt:lpstr>
      <vt:lpstr>目录</vt:lpstr>
      <vt:lpstr>PowerPoint 演示文稿</vt:lpstr>
      <vt:lpstr>标准库与HAL库</vt:lpstr>
      <vt:lpstr>标准库点灯</vt:lpstr>
      <vt:lpstr>标准库点灯</vt:lpstr>
      <vt:lpstr>HAL点灯</vt:lpstr>
      <vt:lpstr>简介</vt:lpstr>
      <vt:lpstr>STM32F103C8T6</vt:lpstr>
      <vt:lpstr>外设</vt:lpstr>
      <vt:lpstr>命名规则</vt:lpstr>
      <vt:lpstr>系统结构</vt:lpstr>
      <vt:lpstr>GPIO引脚配置</vt:lpstr>
      <vt:lpstr>例子</vt:lpstr>
      <vt:lpstr>CUBEMX使用</vt:lpstr>
      <vt:lpstr>OLED驱动</vt:lpstr>
      <vt:lpstr>EXTI外部中断</vt:lpstr>
      <vt:lpstr>预分频系数</vt:lpstr>
      <vt:lpstr>微秒级延时函数</vt:lpstr>
      <vt:lpstr>超声波测距</vt:lpstr>
      <vt:lpstr>超声波测距</vt:lpstr>
      <vt:lpstr>源码</vt:lpstr>
      <vt:lpstr>MPU6050</vt:lpstr>
      <vt:lpstr>IIC通信协议</vt:lpstr>
      <vt:lpstr>硬件IIC和软件IIC</vt:lpstr>
      <vt:lpstr>源码</vt:lpstr>
      <vt:lpstr>PWM</vt:lpstr>
      <vt:lpstr>舵机驱动</vt:lpstr>
      <vt:lpstr>配置</vt:lpstr>
      <vt:lpstr>封装函数</vt:lpstr>
      <vt:lpstr>TB6612</vt:lpstr>
      <vt:lpstr>源码</vt:lpstr>
      <vt:lpstr>霍尔编码器</vt:lpstr>
      <vt:lpstr>腐蚀，膨胀</vt:lpstr>
      <vt:lpstr>开/闭运算</vt:lpstr>
      <vt:lpstr>腐蚀，膨胀</vt:lpstr>
      <vt:lpstr>开/闭运算，礼帽/黑帽操作</vt:lpstr>
      <vt:lpstr>PowerPoint 演示文稿</vt:lpstr>
      <vt:lpstr>拓展阅读</vt:lpstr>
      <vt:lpstr>拓展阅读</vt:lpstr>
      <vt:lpstr>Thanks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BAIEJIDEMAO</dc:creator>
  <cp:lastModifiedBy>佳乐 夏</cp:lastModifiedBy>
  <cp:revision>206</cp:revision>
  <dcterms:created xsi:type="dcterms:W3CDTF">2019-06-19T02:08:00Z</dcterms:created>
  <dcterms:modified xsi:type="dcterms:W3CDTF">2026-10-03T19:17:48Z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2052-12.1.0.15712</vt:lpwstr>
  </property>
  <property fmtid="{D5CDD505-2E9C-101B-9397-08002B2CF9AE}" pid="3" name="ICV">
    <vt:lpwstr>7B206C3A2871434B983CF32EDAC06BCE</vt:lpwstr>
  </property>
</Properties>
</file>